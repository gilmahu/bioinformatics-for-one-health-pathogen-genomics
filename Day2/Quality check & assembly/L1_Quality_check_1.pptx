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83" r:id="rId14"/>
    <p:sldId id="268" r:id="rId15"/>
    <p:sldId id="269" r:id="rId16"/>
    <p:sldId id="270" r:id="rId17"/>
    <p:sldId id="271" r:id="rId18"/>
    <p:sldId id="289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6"/>
  </p:normalViewPr>
  <p:slideViewPr>
    <p:cSldViewPr>
      <p:cViewPr varScale="1">
        <p:scale>
          <a:sx n="104" d="100"/>
          <a:sy n="104" d="100"/>
        </p:scale>
        <p:origin x="232" y="3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E29CB-C980-6E4E-B9C5-DDC0CD684687}" type="datetimeFigureOut">
              <a:rPr lang="en-DK" smtClean="0"/>
              <a:t>04/08/2025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05985-22F6-9944-9FCB-3DC06A73EC4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68925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04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5856"/>
            <a:ext cx="1343025" cy="683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8871" y="237904"/>
            <a:ext cx="11514257" cy="106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9364"/>
            <a:ext cx="10358120" cy="4347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0000-0003-3991-086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orcid.org/0000-0003-3991-0864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82421" y="2196253"/>
            <a:ext cx="10149205" cy="121571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3900" b="1" dirty="0">
                <a:solidFill>
                  <a:srgbClr val="C00000"/>
                </a:solidFill>
                <a:latin typeface="Calibri Light"/>
                <a:cs typeface="Calibri Light"/>
              </a:rPr>
              <a:t>Closer</a:t>
            </a:r>
            <a:r>
              <a:rPr sz="3900" b="1" spc="18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3900" b="1" dirty="0">
                <a:solidFill>
                  <a:srgbClr val="C00000"/>
                </a:solidFill>
                <a:latin typeface="Calibri Light"/>
                <a:cs typeface="Calibri Light"/>
              </a:rPr>
              <a:t>Look:</a:t>
            </a:r>
            <a:r>
              <a:rPr sz="3900" b="1" spc="19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3900" b="1" dirty="0">
                <a:solidFill>
                  <a:srgbClr val="C00000"/>
                </a:solidFill>
                <a:latin typeface="Calibri Light"/>
                <a:cs typeface="Calibri Light"/>
              </a:rPr>
              <a:t>Quality</a:t>
            </a:r>
            <a:r>
              <a:rPr sz="3900" b="1" spc="19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3900" b="1" dirty="0">
                <a:solidFill>
                  <a:srgbClr val="C00000"/>
                </a:solidFill>
                <a:latin typeface="Calibri Light"/>
                <a:cs typeface="Calibri Light"/>
              </a:rPr>
              <a:t>Checks</a:t>
            </a:r>
            <a:r>
              <a:rPr sz="3900" b="1" spc="19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3900" b="1" dirty="0">
                <a:solidFill>
                  <a:srgbClr val="C00000"/>
                </a:solidFill>
                <a:latin typeface="Calibri Light"/>
                <a:cs typeface="Calibri Light"/>
              </a:rPr>
              <a:t>in</a:t>
            </a:r>
            <a:r>
              <a:rPr sz="3900" b="1" spc="18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3900" b="1" dirty="0">
                <a:solidFill>
                  <a:srgbClr val="C00000"/>
                </a:solidFill>
                <a:latin typeface="Calibri Light"/>
                <a:cs typeface="Calibri Light"/>
              </a:rPr>
              <a:t>Bacterial</a:t>
            </a:r>
            <a:r>
              <a:rPr sz="3900" b="1" spc="20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3900" b="1" spc="-10" dirty="0">
                <a:solidFill>
                  <a:srgbClr val="C00000"/>
                </a:solidFill>
                <a:latin typeface="Calibri Light"/>
                <a:cs typeface="Calibri Light"/>
              </a:rPr>
              <a:t>Genomics</a:t>
            </a:r>
            <a:endParaRPr sz="3900" b="1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6EA04-D757-37F8-5ACE-23D4B35744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t="62172" r="45526" b="27602"/>
          <a:stretch/>
        </p:blipFill>
        <p:spPr>
          <a:xfrm>
            <a:off x="131229" y="6026050"/>
            <a:ext cx="4135971" cy="495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454602-91B4-44F7-4950-D39E068AF421}"/>
              </a:ext>
            </a:extLst>
          </p:cNvPr>
          <p:cNvSpPr txBox="1"/>
          <p:nvPr/>
        </p:nvSpPr>
        <p:spPr>
          <a:xfrm>
            <a:off x="-76200" y="4408351"/>
            <a:ext cx="42688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Gildas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Hounmanou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PhD 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2D4E8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APTI-Fellow, National Institutes of Health, MD, USA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DK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Assistant-Professor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1200" kern="0" dirty="0">
                <a:solidFill>
                  <a:srgbClr val="044A9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 tooltip="https://orcid.org/0000-0003-3991-0864"/>
              </a:rPr>
              <a:t>https://orcid.org/0000-0003-3991-0864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University of Copenhagen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Faculty of Health and Medical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Section for Food Safety and Zoonoses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Department of Veterinary and Animal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DNA | Definition, Discovery, Function, Bases, Facts, &amp; Structure |  Britannica">
            <a:extLst>
              <a:ext uri="{FF2B5EF4-FFF2-40B4-BE49-F238E27FC236}">
                <a16:creationId xmlns:a16="http://schemas.microsoft.com/office/drawing/2014/main" id="{4E70EADB-00FF-CBF7-BE62-91B4F64AA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466" y="4191000"/>
            <a:ext cx="4063334" cy="228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871" y="291253"/>
            <a:ext cx="152971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-10" dirty="0"/>
              <a:t>Outline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1513445" y="1219200"/>
            <a:ext cx="9165110" cy="511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366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3100" spc="-10" dirty="0">
                <a:latin typeface="Calibri"/>
                <a:cs typeface="Calibri"/>
              </a:rPr>
              <a:t>Introduction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dirty="0">
                <a:latin typeface="Calibri"/>
                <a:cs typeface="Calibri"/>
              </a:rPr>
              <a:t>Importance</a:t>
            </a:r>
            <a:r>
              <a:rPr sz="3100" spc="-7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of</a:t>
            </a:r>
            <a:r>
              <a:rPr sz="3100" spc="-5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quality</a:t>
            </a:r>
            <a:r>
              <a:rPr sz="3100" spc="-6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checks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dirty="0">
                <a:latin typeface="Calibri"/>
                <a:cs typeface="Calibri"/>
              </a:rPr>
              <a:t>Quality</a:t>
            </a:r>
            <a:r>
              <a:rPr sz="3100" spc="-7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checks</a:t>
            </a:r>
            <a:r>
              <a:rPr sz="3100" spc="-8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overview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dirty="0">
                <a:latin typeface="Calibri"/>
                <a:cs typeface="Calibri"/>
              </a:rPr>
              <a:t>Read</a:t>
            </a:r>
            <a:r>
              <a:rPr sz="3100" spc="-8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filtering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spc="-10" dirty="0">
                <a:latin typeface="Calibri"/>
                <a:cs typeface="Calibri"/>
              </a:rPr>
              <a:t>Trimming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spc="-10" dirty="0">
                <a:latin typeface="Calibri"/>
                <a:cs typeface="Calibri"/>
              </a:rPr>
              <a:t>Contamination</a:t>
            </a:r>
            <a:r>
              <a:rPr sz="3100" spc="-5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assessment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dirty="0">
                <a:latin typeface="Calibri"/>
                <a:cs typeface="Calibri"/>
              </a:rPr>
              <a:t>Quality</a:t>
            </a:r>
            <a:r>
              <a:rPr sz="3100" spc="-7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control</a:t>
            </a:r>
            <a:r>
              <a:rPr sz="3100" spc="-6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tools</a:t>
            </a:r>
            <a:r>
              <a:rPr sz="3100" spc="-7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and</a:t>
            </a:r>
            <a:r>
              <a:rPr sz="3100" spc="-7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metrics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dirty="0">
                <a:latin typeface="Calibri"/>
                <a:cs typeface="Calibri"/>
              </a:rPr>
              <a:t>Quality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check</a:t>
            </a:r>
            <a:r>
              <a:rPr sz="3100" spc="-5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best</a:t>
            </a:r>
            <a:r>
              <a:rPr sz="3100" spc="-5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practices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spc="-10" dirty="0">
                <a:latin typeface="Calibri"/>
                <a:cs typeface="Calibri"/>
              </a:rPr>
              <a:t>Summary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0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spc="-10" dirty="0">
                <a:latin typeface="Calibri"/>
                <a:cs typeface="Calibri"/>
              </a:rPr>
              <a:t>References</a:t>
            </a:r>
            <a:endParaRPr sz="3100" dirty="0">
              <a:latin typeface="Calibri"/>
              <a:cs typeface="Calibri"/>
            </a:endParaRPr>
          </a:p>
          <a:p>
            <a:pPr marL="240665" indent="-227965">
              <a:lnSpc>
                <a:spcPts val="3660"/>
              </a:lnSpc>
              <a:buFont typeface="Arial MT"/>
              <a:buChar char="•"/>
              <a:tabLst>
                <a:tab pos="240665" algn="l"/>
              </a:tabLst>
            </a:pPr>
            <a:r>
              <a:rPr sz="3100" spc="-25" dirty="0">
                <a:latin typeface="Calibri"/>
                <a:cs typeface="Calibri"/>
              </a:rPr>
              <a:t>Q&amp;A</a:t>
            </a:r>
            <a:endParaRPr sz="3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4349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20"/>
              </a:spcBef>
            </a:pPr>
            <a:r>
              <a:rPr sz="3900" spc="-10" dirty="0"/>
              <a:t>Introduction</a:t>
            </a:r>
            <a:endParaRPr sz="39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spc="-60" dirty="0"/>
              <a:t> </a:t>
            </a:r>
            <a:r>
              <a:rPr spc="-10" dirty="0"/>
              <a:t>presentation</a:t>
            </a:r>
            <a:r>
              <a:rPr spc="-60" dirty="0"/>
              <a:t> </a:t>
            </a:r>
            <a:r>
              <a:rPr spc="-10" dirty="0"/>
              <a:t>will;</a:t>
            </a: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pc="-10" dirty="0"/>
          </a:p>
          <a:p>
            <a:pPr marL="241300" marR="5715" indent="-228600" algn="just">
              <a:lnSpc>
                <a:spcPts val="25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focus</a:t>
            </a:r>
            <a:r>
              <a:rPr spc="75" dirty="0"/>
              <a:t>  </a:t>
            </a:r>
            <a:r>
              <a:rPr dirty="0"/>
              <a:t>on</a:t>
            </a:r>
            <a:r>
              <a:rPr spc="75" dirty="0"/>
              <a:t>  </a:t>
            </a:r>
            <a:r>
              <a:rPr dirty="0"/>
              <a:t>the</a:t>
            </a:r>
            <a:r>
              <a:rPr spc="80" dirty="0"/>
              <a:t>  </a:t>
            </a:r>
            <a:r>
              <a:rPr dirty="0"/>
              <a:t>importance</a:t>
            </a:r>
            <a:r>
              <a:rPr spc="75" dirty="0"/>
              <a:t>  </a:t>
            </a:r>
            <a:r>
              <a:rPr dirty="0"/>
              <a:t>of</a:t>
            </a:r>
            <a:r>
              <a:rPr spc="75" dirty="0"/>
              <a:t>  </a:t>
            </a:r>
            <a:r>
              <a:rPr dirty="0"/>
              <a:t>quality</a:t>
            </a:r>
            <a:r>
              <a:rPr spc="75" dirty="0"/>
              <a:t>  </a:t>
            </a:r>
            <a:r>
              <a:rPr dirty="0"/>
              <a:t>checks</a:t>
            </a:r>
            <a:r>
              <a:rPr spc="80" dirty="0"/>
              <a:t>  </a:t>
            </a:r>
            <a:r>
              <a:rPr dirty="0"/>
              <a:t>in</a:t>
            </a:r>
            <a:r>
              <a:rPr spc="75" dirty="0"/>
              <a:t>  </a:t>
            </a:r>
            <a:r>
              <a:rPr dirty="0"/>
              <a:t>bacteria</a:t>
            </a:r>
            <a:r>
              <a:rPr spc="80" dirty="0"/>
              <a:t>  </a:t>
            </a:r>
            <a:r>
              <a:rPr dirty="0"/>
              <a:t>genomics,</a:t>
            </a:r>
            <a:r>
              <a:rPr spc="80" dirty="0"/>
              <a:t>  </a:t>
            </a:r>
            <a:r>
              <a:rPr spc="-25" dirty="0"/>
              <a:t>and </a:t>
            </a:r>
            <a:r>
              <a:rPr dirty="0"/>
              <a:t>provide</a:t>
            </a:r>
            <a:r>
              <a:rPr spc="509" dirty="0"/>
              <a:t> </a:t>
            </a:r>
            <a:r>
              <a:rPr dirty="0"/>
              <a:t>an</a:t>
            </a:r>
            <a:r>
              <a:rPr spc="509" dirty="0"/>
              <a:t> </a:t>
            </a:r>
            <a:r>
              <a:rPr dirty="0"/>
              <a:t>overview</a:t>
            </a:r>
            <a:r>
              <a:rPr spc="515" dirty="0"/>
              <a:t> </a:t>
            </a:r>
            <a:r>
              <a:rPr dirty="0"/>
              <a:t>of</a:t>
            </a:r>
            <a:r>
              <a:rPr spc="505" dirty="0"/>
              <a:t> </a:t>
            </a:r>
            <a:r>
              <a:rPr dirty="0"/>
              <a:t>the</a:t>
            </a:r>
            <a:r>
              <a:rPr spc="509" dirty="0"/>
              <a:t> </a:t>
            </a:r>
            <a:r>
              <a:rPr dirty="0"/>
              <a:t>key</a:t>
            </a:r>
            <a:r>
              <a:rPr spc="520" dirty="0"/>
              <a:t> </a:t>
            </a:r>
            <a:r>
              <a:rPr dirty="0"/>
              <a:t>concepts</a:t>
            </a:r>
            <a:r>
              <a:rPr spc="509" dirty="0"/>
              <a:t> </a:t>
            </a:r>
            <a:r>
              <a:rPr dirty="0"/>
              <a:t>and</a:t>
            </a:r>
            <a:r>
              <a:rPr spc="509" dirty="0"/>
              <a:t> </a:t>
            </a:r>
            <a:r>
              <a:rPr dirty="0"/>
              <a:t>best</a:t>
            </a:r>
            <a:r>
              <a:rPr spc="515" dirty="0"/>
              <a:t> </a:t>
            </a:r>
            <a:r>
              <a:rPr dirty="0"/>
              <a:t>practices</a:t>
            </a:r>
            <a:r>
              <a:rPr spc="509" dirty="0"/>
              <a:t> </a:t>
            </a:r>
            <a:r>
              <a:rPr dirty="0"/>
              <a:t>related</a:t>
            </a:r>
            <a:r>
              <a:rPr spc="509" dirty="0"/>
              <a:t> </a:t>
            </a:r>
            <a:r>
              <a:rPr spc="-25" dirty="0"/>
              <a:t>to </a:t>
            </a:r>
            <a:r>
              <a:rPr dirty="0"/>
              <a:t>quality</a:t>
            </a:r>
            <a:r>
              <a:rPr spc="-35" dirty="0"/>
              <a:t> </a:t>
            </a:r>
            <a:r>
              <a:rPr spc="-10" dirty="0"/>
              <a:t>checks.</a:t>
            </a:r>
          </a:p>
          <a:p>
            <a:pPr>
              <a:lnSpc>
                <a:spcPct val="100000"/>
              </a:lnSpc>
              <a:spcBef>
                <a:spcPts val="1250"/>
              </a:spcBef>
              <a:buFont typeface="Arial MT"/>
              <a:buChar char="•"/>
            </a:pPr>
            <a:endParaRPr spc="-10" dirty="0"/>
          </a:p>
          <a:p>
            <a:pPr marL="241300" marR="5080" indent="-228600" algn="just">
              <a:lnSpc>
                <a:spcPct val="8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/>
              <a:t>provide</a:t>
            </a:r>
            <a:r>
              <a:rPr spc="114" dirty="0"/>
              <a:t> </a:t>
            </a:r>
            <a:r>
              <a:rPr dirty="0"/>
              <a:t>a</a:t>
            </a:r>
            <a:r>
              <a:rPr spc="120" dirty="0"/>
              <a:t> </a:t>
            </a:r>
            <a:r>
              <a:rPr dirty="0"/>
              <a:t>better</a:t>
            </a:r>
            <a:r>
              <a:rPr spc="125" dirty="0"/>
              <a:t> </a:t>
            </a:r>
            <a:r>
              <a:rPr dirty="0"/>
              <a:t>understanding</a:t>
            </a:r>
            <a:r>
              <a:rPr spc="110" dirty="0"/>
              <a:t> </a:t>
            </a:r>
            <a:r>
              <a:rPr dirty="0"/>
              <a:t>of</a:t>
            </a:r>
            <a:r>
              <a:rPr spc="114" dirty="0"/>
              <a:t> </a:t>
            </a:r>
            <a:r>
              <a:rPr dirty="0"/>
              <a:t>how</a:t>
            </a:r>
            <a:r>
              <a:rPr spc="120" dirty="0"/>
              <a:t> </a:t>
            </a:r>
            <a:r>
              <a:rPr dirty="0"/>
              <a:t>quality</a:t>
            </a:r>
            <a:r>
              <a:rPr spc="114" dirty="0"/>
              <a:t> </a:t>
            </a:r>
            <a:r>
              <a:rPr dirty="0"/>
              <a:t>checks</a:t>
            </a:r>
            <a:r>
              <a:rPr spc="114" dirty="0"/>
              <a:t> </a:t>
            </a:r>
            <a:r>
              <a:rPr dirty="0"/>
              <a:t>can</a:t>
            </a:r>
            <a:r>
              <a:rPr spc="120" dirty="0"/>
              <a:t> </a:t>
            </a:r>
            <a:r>
              <a:rPr dirty="0"/>
              <a:t>help</a:t>
            </a:r>
            <a:r>
              <a:rPr spc="110" dirty="0"/>
              <a:t> </a:t>
            </a:r>
            <a:r>
              <a:rPr dirty="0"/>
              <a:t>ensure</a:t>
            </a:r>
            <a:r>
              <a:rPr spc="120" dirty="0"/>
              <a:t> </a:t>
            </a:r>
            <a:r>
              <a:rPr spc="-25" dirty="0"/>
              <a:t>the </a:t>
            </a:r>
            <a:r>
              <a:rPr dirty="0"/>
              <a:t>accuracy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reliability</a:t>
            </a:r>
            <a:r>
              <a:rPr spc="-7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genomics</a:t>
            </a:r>
            <a:r>
              <a:rPr spc="-70" dirty="0"/>
              <a:t> </a:t>
            </a:r>
            <a:r>
              <a:rPr spc="-10" dirty="0"/>
              <a:t>data.</a:t>
            </a: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pc="-10" dirty="0"/>
          </a:p>
          <a:p>
            <a:pPr marL="241300" marR="5080" indent="-228600" algn="just">
              <a:lnSpc>
                <a:spcPts val="252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/>
              <a:t>equip</a:t>
            </a:r>
            <a:r>
              <a:rPr spc="645" dirty="0"/>
              <a:t> </a:t>
            </a:r>
            <a:r>
              <a:rPr dirty="0"/>
              <a:t>you</a:t>
            </a:r>
            <a:r>
              <a:rPr spc="30" dirty="0"/>
              <a:t>  </a:t>
            </a:r>
            <a:r>
              <a:rPr dirty="0"/>
              <a:t>with</a:t>
            </a:r>
            <a:r>
              <a:rPr spc="30" dirty="0"/>
              <a:t>  </a:t>
            </a:r>
            <a:r>
              <a:rPr dirty="0"/>
              <a:t>the</a:t>
            </a:r>
            <a:r>
              <a:rPr spc="30" dirty="0"/>
              <a:t>  </a:t>
            </a:r>
            <a:r>
              <a:rPr dirty="0"/>
              <a:t>knowledge</a:t>
            </a:r>
            <a:r>
              <a:rPr spc="35" dirty="0"/>
              <a:t>  </a:t>
            </a:r>
            <a:r>
              <a:rPr dirty="0"/>
              <a:t>and</a:t>
            </a:r>
            <a:r>
              <a:rPr spc="645" dirty="0"/>
              <a:t> </a:t>
            </a:r>
            <a:r>
              <a:rPr dirty="0"/>
              <a:t>tools</a:t>
            </a:r>
            <a:r>
              <a:rPr spc="30" dirty="0"/>
              <a:t>  </a:t>
            </a:r>
            <a:r>
              <a:rPr dirty="0"/>
              <a:t>needed</a:t>
            </a:r>
            <a:r>
              <a:rPr spc="30" dirty="0"/>
              <a:t>  </a:t>
            </a:r>
            <a:r>
              <a:rPr dirty="0"/>
              <a:t>to</a:t>
            </a:r>
            <a:r>
              <a:rPr spc="35" dirty="0"/>
              <a:t>  </a:t>
            </a:r>
            <a:r>
              <a:rPr dirty="0"/>
              <a:t>conduct</a:t>
            </a:r>
            <a:r>
              <a:rPr spc="35" dirty="0"/>
              <a:t>  </a:t>
            </a:r>
            <a:r>
              <a:rPr spc="-10" dirty="0"/>
              <a:t>effective </a:t>
            </a:r>
            <a:r>
              <a:rPr dirty="0"/>
              <a:t>quality</a:t>
            </a:r>
            <a:r>
              <a:rPr spc="-50" dirty="0"/>
              <a:t> </a:t>
            </a:r>
            <a:r>
              <a:rPr dirty="0"/>
              <a:t>checks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your</a:t>
            </a:r>
            <a:r>
              <a:rPr spc="-35" dirty="0"/>
              <a:t> </a:t>
            </a:r>
            <a:r>
              <a:rPr dirty="0"/>
              <a:t>own</a:t>
            </a:r>
            <a:r>
              <a:rPr spc="-45" dirty="0"/>
              <a:t> </a:t>
            </a:r>
            <a:r>
              <a:rPr spc="-10" dirty="0"/>
              <a:t>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19853"/>
            <a:ext cx="1032129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dirty="0"/>
              <a:t>The</a:t>
            </a:r>
            <a:r>
              <a:rPr sz="3900" spc="180" dirty="0"/>
              <a:t> </a:t>
            </a:r>
            <a:r>
              <a:rPr sz="3900" dirty="0"/>
              <a:t>importance</a:t>
            </a:r>
            <a:r>
              <a:rPr sz="3900" spc="185" dirty="0"/>
              <a:t> </a:t>
            </a:r>
            <a:r>
              <a:rPr sz="3900" dirty="0"/>
              <a:t>of</a:t>
            </a:r>
            <a:r>
              <a:rPr sz="3900" spc="195" dirty="0"/>
              <a:t> </a:t>
            </a:r>
            <a:r>
              <a:rPr sz="3900" dirty="0"/>
              <a:t>quality</a:t>
            </a:r>
            <a:r>
              <a:rPr sz="3900" spc="185" dirty="0"/>
              <a:t> </a:t>
            </a:r>
            <a:r>
              <a:rPr sz="3900" dirty="0"/>
              <a:t>checks</a:t>
            </a:r>
            <a:r>
              <a:rPr sz="3900" spc="185" dirty="0"/>
              <a:t> </a:t>
            </a:r>
            <a:r>
              <a:rPr sz="3900" dirty="0"/>
              <a:t>in</a:t>
            </a:r>
            <a:r>
              <a:rPr sz="3900" spc="185" dirty="0"/>
              <a:t> </a:t>
            </a:r>
            <a:r>
              <a:rPr sz="3900" dirty="0"/>
              <a:t>genomics</a:t>
            </a:r>
            <a:r>
              <a:rPr sz="3900" spc="190" dirty="0"/>
              <a:t> </a:t>
            </a:r>
            <a:r>
              <a:rPr sz="3900" spc="-20" dirty="0"/>
              <a:t>data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257416" y="1210563"/>
            <a:ext cx="11616055" cy="54298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15494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Genomics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surveillance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crucial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tracking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antimicrobial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resistance, </a:t>
            </a:r>
            <a:r>
              <a:rPr sz="2800" dirty="0">
                <a:latin typeface="Calibri"/>
                <a:cs typeface="Calibri"/>
              </a:rPr>
              <a:t>detecting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outbreaks,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guiding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treatment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decisions.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7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414020" indent="-228600">
              <a:lnSpc>
                <a:spcPts val="3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However,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accurate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reliable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genomics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essential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effective interventions.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sequencing,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assembly,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annotation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result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incorrect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conclusions.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9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necessary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accuracy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reliability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genomics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bacterial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antimicrobial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resistance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surveillance.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42545" indent="-228600">
              <a:lnSpc>
                <a:spcPts val="3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researchers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public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health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officials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address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errors/biases,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decisions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effective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596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20"/>
              </a:spcBef>
            </a:pPr>
            <a:r>
              <a:rPr sz="3900" dirty="0"/>
              <a:t>Quality</a:t>
            </a:r>
            <a:r>
              <a:rPr sz="3900" spc="204" dirty="0"/>
              <a:t> </a:t>
            </a:r>
            <a:r>
              <a:rPr sz="3900" dirty="0"/>
              <a:t>checks</a:t>
            </a:r>
            <a:r>
              <a:rPr sz="3900" spc="210" dirty="0"/>
              <a:t> </a:t>
            </a:r>
            <a:r>
              <a:rPr sz="3900" spc="-10" dirty="0"/>
              <a:t>overview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916939" y="1769364"/>
            <a:ext cx="10357485" cy="434784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marR="5715" indent="-228600" algn="just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procedures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assess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reliability.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1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Types: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pre-</a:t>
            </a:r>
            <a:r>
              <a:rPr sz="2600" dirty="0">
                <a:latin typeface="Calibri"/>
                <a:cs typeface="Calibri"/>
              </a:rPr>
              <a:t>processing,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processing,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post-</a:t>
            </a:r>
            <a:r>
              <a:rPr sz="2600" spc="-10" dirty="0">
                <a:latin typeface="Calibri"/>
                <a:cs typeface="Calibri"/>
              </a:rPr>
              <a:t>processing.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785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14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1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1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14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performed</a:t>
            </a:r>
            <a:r>
              <a:rPr sz="2600" spc="1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1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various</a:t>
            </a:r>
            <a:r>
              <a:rPr sz="2600" spc="1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stages</a:t>
            </a:r>
            <a:r>
              <a:rPr sz="2600" spc="14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4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45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genomics </a:t>
            </a:r>
            <a:r>
              <a:rPr sz="2600" dirty="0">
                <a:latin typeface="Calibri"/>
                <a:cs typeface="Calibri"/>
              </a:rPr>
              <a:t>workflow,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including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DNA</a:t>
            </a:r>
            <a:r>
              <a:rPr sz="2600" b="1" spc="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extraction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library</a:t>
            </a:r>
            <a:r>
              <a:rPr sz="2600" b="1" spc="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preparation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sequencing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analysis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252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Each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step</a:t>
            </a:r>
            <a:r>
              <a:rPr sz="2600" spc="5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5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essential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ensuring</a:t>
            </a:r>
            <a:r>
              <a:rPr sz="2600" spc="5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5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reliability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4349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20"/>
              </a:spcBef>
            </a:pPr>
            <a:r>
              <a:rPr sz="3900" dirty="0"/>
              <a:t>Read</a:t>
            </a:r>
            <a:r>
              <a:rPr sz="3900" spc="90" dirty="0"/>
              <a:t> </a:t>
            </a:r>
            <a:r>
              <a:rPr sz="3900" spc="-10" dirty="0"/>
              <a:t>Filtering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916939" y="1732788"/>
            <a:ext cx="10170160" cy="424434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41300" marR="288290" indent="-228600">
              <a:lnSpc>
                <a:spcPct val="7000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pre-</a:t>
            </a:r>
            <a:r>
              <a:rPr sz="2600" dirty="0">
                <a:latin typeface="Calibri"/>
                <a:cs typeface="Calibri"/>
              </a:rPr>
              <a:t>processing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removing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low-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irrelevant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reads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65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Primary</a:t>
            </a:r>
            <a:r>
              <a:rPr sz="2600" b="1" spc="-1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reasons:</a:t>
            </a:r>
            <a:r>
              <a:rPr sz="2600" b="1" spc="-100" dirty="0">
                <a:latin typeface="Calibri"/>
                <a:cs typeface="Calibri"/>
              </a:rPr>
              <a:t> </a:t>
            </a:r>
            <a:r>
              <a:rPr sz="2600" spc="-11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remove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errors,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adapter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contamination,</a:t>
            </a:r>
            <a:endParaRPr sz="2600">
              <a:latin typeface="Calibri"/>
              <a:cs typeface="Calibri"/>
            </a:endParaRPr>
          </a:p>
          <a:p>
            <a:pPr marL="241300" marR="1147445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low-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reads,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affect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downstream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interpretation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Types: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quality-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filtering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(removes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reads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low-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scores),</a:t>
            </a:r>
            <a:endParaRPr sz="2600">
              <a:latin typeface="Calibri"/>
              <a:cs typeface="Calibri"/>
            </a:endParaRPr>
          </a:p>
          <a:p>
            <a:pPr marL="241300" marR="5080">
              <a:lnSpc>
                <a:spcPct val="70800"/>
              </a:lnSpc>
              <a:spcBef>
                <a:spcPts val="445"/>
              </a:spcBef>
            </a:pPr>
            <a:r>
              <a:rPr sz="2600" dirty="0">
                <a:latin typeface="Calibri"/>
                <a:cs typeface="Calibri"/>
              </a:rPr>
              <a:t>adapter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trimming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(removes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reads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adapter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contamination)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length </a:t>
            </a:r>
            <a:r>
              <a:rPr sz="2600" dirty="0">
                <a:latin typeface="Calibri"/>
                <a:cs typeface="Calibri"/>
              </a:rPr>
              <a:t>filtering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(removes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reads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short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long).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30" dirty="0">
                <a:latin typeface="Calibri"/>
                <a:cs typeface="Calibri"/>
              </a:rPr>
              <a:t>Tools: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Trimmomatic,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Fastp,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BBDuk,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Cutadapt.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922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Trimming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133" y="1308099"/>
            <a:ext cx="11196320" cy="497268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75945" indent="-228600">
              <a:lnSpc>
                <a:spcPts val="271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Definition: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pre-</a:t>
            </a:r>
            <a:r>
              <a:rPr sz="2800" dirty="0">
                <a:latin typeface="Calibri"/>
                <a:cs typeface="Calibri"/>
              </a:rPr>
              <a:t>processing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involves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removing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low-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irrelevant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04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Primary</a:t>
            </a:r>
            <a:r>
              <a:rPr sz="2800" b="1" spc="-1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reasons: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spc="-1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remove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adapter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contamination,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30" dirty="0">
                <a:latin typeface="Calibri"/>
                <a:cs typeface="Calibri"/>
              </a:rPr>
              <a:t>low-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affect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downstream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analyses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interpretation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214629" indent="-228600">
              <a:lnSpc>
                <a:spcPct val="804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Types: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quality-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trimming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(removes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low-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scores), </a:t>
            </a:r>
            <a:r>
              <a:rPr sz="2800" dirty="0">
                <a:latin typeface="Calibri"/>
                <a:cs typeface="Calibri"/>
              </a:rPr>
              <a:t>adapter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trimming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(adapter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sequences),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sliding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window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trimming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(low-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reads).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b="1" spc="-25" dirty="0">
                <a:latin typeface="Calibri"/>
                <a:cs typeface="Calibri"/>
              </a:rPr>
              <a:t>Tools: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Trimmomatic,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Fastp,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Sickle.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358" y="299935"/>
            <a:ext cx="606742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Contamination</a:t>
            </a:r>
            <a:r>
              <a:rPr spc="440" dirty="0"/>
              <a:t> </a:t>
            </a:r>
            <a:r>
              <a:rPr spc="-10" dirty="0"/>
              <a:t>assessment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008" y="1260347"/>
            <a:ext cx="10097770" cy="15163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0665" marR="5080" indent="-228600">
              <a:lnSpc>
                <a:spcPct val="708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post-</a:t>
            </a:r>
            <a:r>
              <a:rPr sz="2600" dirty="0">
                <a:latin typeface="Calibri"/>
                <a:cs typeface="Calibri"/>
              </a:rPr>
              <a:t>processing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involves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quantifying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presence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contamination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Sources: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358" y="3040380"/>
            <a:ext cx="42392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present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358" y="3433572"/>
            <a:ext cx="107118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47185" algn="l"/>
              </a:tabLst>
            </a:pPr>
            <a:r>
              <a:rPr sz="2600" b="1" spc="-25" dirty="0">
                <a:latin typeface="Calibri"/>
                <a:cs typeface="Calibri"/>
              </a:rPr>
              <a:t>Cross-</a:t>
            </a:r>
            <a:r>
              <a:rPr sz="2600" b="1" dirty="0">
                <a:latin typeface="Calibri"/>
                <a:cs typeface="Calibri"/>
              </a:rPr>
              <a:t>sample</a:t>
            </a:r>
            <a:r>
              <a:rPr sz="2600" b="1" spc="-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contamination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dirty="0">
                <a:latin typeface="Calibri"/>
                <a:cs typeface="Calibri"/>
              </a:rPr>
              <a:t>	occurs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DNA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sample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mixed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with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358" y="3713988"/>
            <a:ext cx="91109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DNA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sample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library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preparation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sequencing.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008" y="2759964"/>
            <a:ext cx="10636250" cy="178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sz="2600" b="1" spc="-25" dirty="0">
                <a:latin typeface="Calibri"/>
                <a:cs typeface="Calibri"/>
              </a:rPr>
              <a:t>a.</a:t>
            </a:r>
            <a:r>
              <a:rPr sz="2600" b="1" dirty="0">
                <a:latin typeface="Calibri"/>
                <a:cs typeface="Calibri"/>
              </a:rPr>
              <a:t>	Host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contamination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occurs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DNA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host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organism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2600" b="1" spc="-25" dirty="0">
                <a:latin typeface="Calibri"/>
                <a:cs typeface="Calibri"/>
              </a:rPr>
              <a:t>b.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600" b="1" spc="-25" dirty="0">
                <a:latin typeface="Calibri"/>
                <a:cs typeface="Calibri"/>
              </a:rPr>
              <a:t>c.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358" y="4119372"/>
            <a:ext cx="109397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latin typeface="Calibri"/>
                <a:cs typeface="Calibri"/>
              </a:rPr>
              <a:t>Reference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contamination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occurs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reference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analysis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008" y="4399788"/>
            <a:ext cx="11503025" cy="190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contaminated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foreign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DNA.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30" dirty="0">
                <a:latin typeface="Calibri"/>
                <a:cs typeface="Calibri"/>
              </a:rPr>
              <a:t>Tools: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Kraken,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Kraken2,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BlobTools.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ct val="70800"/>
              </a:lnSpc>
              <a:spcBef>
                <a:spcPts val="900"/>
              </a:spcBef>
            </a:pP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variety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taxonomic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classification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mapping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reference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quantify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contamination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922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185" dirty="0"/>
              <a:t> </a:t>
            </a:r>
            <a:r>
              <a:rPr dirty="0"/>
              <a:t>control</a:t>
            </a:r>
            <a:r>
              <a:rPr spc="195" dirty="0"/>
              <a:t> </a:t>
            </a:r>
            <a:r>
              <a:rPr spc="-1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9364"/>
            <a:ext cx="9972675" cy="434784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spc="-35" dirty="0">
                <a:latin typeface="Calibri"/>
                <a:cs typeface="Calibri"/>
              </a:rPr>
              <a:t>Tools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evaluate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reliable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metrics.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713740" indent="-228600">
              <a:lnSpc>
                <a:spcPts val="2500"/>
              </a:lnSpc>
              <a:buFont typeface="Arial MT"/>
              <a:buChar char="•"/>
              <a:tabLst>
                <a:tab pos="241300" algn="l"/>
                <a:tab pos="1400810" algn="l"/>
              </a:tabLst>
            </a:pPr>
            <a:r>
              <a:rPr sz="2600" b="1" spc="-30" dirty="0">
                <a:latin typeface="Calibri"/>
                <a:cs typeface="Calibri"/>
              </a:rPr>
              <a:t>Tools: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FastQC,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MultiQC,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Trimmomatic,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Trim_galore,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BBDuk,Sickle Kraken,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Arial MT"/>
                <a:cs typeface="Arial MT"/>
              </a:rPr>
              <a:t>ConFindr,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CLC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workbench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Geneious,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checkM,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cutadapt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436245" indent="-228600">
              <a:lnSpc>
                <a:spcPct val="8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Quality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control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metrics: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quantifiable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measurements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assess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processes.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600">
              <a:latin typeface="Calibri"/>
              <a:cs typeface="Calibri"/>
            </a:endParaRPr>
          </a:p>
          <a:p>
            <a:pPr marL="12700" marR="978535">
              <a:lnSpc>
                <a:spcPts val="2520"/>
              </a:lnSpc>
            </a:pPr>
            <a:r>
              <a:rPr sz="2600" b="1" dirty="0">
                <a:latin typeface="Calibri"/>
                <a:cs typeface="Calibri"/>
              </a:rPr>
              <a:t>Examples: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length,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quality,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GC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content,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composition, </a:t>
            </a:r>
            <a:r>
              <a:rPr sz="2600" dirty="0">
                <a:latin typeface="Calibri"/>
                <a:cs typeface="Calibri"/>
              </a:rPr>
              <a:t>duplication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rate,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mapping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rate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922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320" dirty="0"/>
              <a:t> </a:t>
            </a:r>
            <a:r>
              <a:rPr dirty="0"/>
              <a:t>control</a:t>
            </a:r>
            <a:r>
              <a:rPr spc="325" dirty="0"/>
              <a:t> </a:t>
            </a:r>
            <a:r>
              <a:rPr dirty="0"/>
              <a:t>metrics-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048" y="1399540"/>
            <a:ext cx="11359515" cy="46678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86995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Base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composition: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frequency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(adenine,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guanine, </a:t>
            </a:r>
            <a:r>
              <a:rPr sz="2800" dirty="0">
                <a:latin typeface="Calibri"/>
                <a:cs typeface="Calibri"/>
              </a:rPr>
              <a:t>cytosine,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thymine)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Deviations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expected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base </a:t>
            </a:r>
            <a:r>
              <a:rPr sz="2800" dirty="0">
                <a:latin typeface="Calibri"/>
                <a:cs typeface="Calibri"/>
              </a:rPr>
              <a:t>composition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contamination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issues.</a:t>
            </a:r>
            <a:endParaRPr sz="2800">
              <a:latin typeface="Calibri"/>
              <a:cs typeface="Calibri"/>
            </a:endParaRPr>
          </a:p>
          <a:p>
            <a:pPr marL="241300" marR="118110" indent="-228600">
              <a:lnSpc>
                <a:spcPts val="3000"/>
              </a:lnSpc>
              <a:spcBef>
                <a:spcPts val="11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Duplication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rate: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percentage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identical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read.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duplication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biases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issues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library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preparation.</a:t>
            </a:r>
            <a:endParaRPr sz="2800">
              <a:latin typeface="Calibri"/>
              <a:cs typeface="Calibri"/>
            </a:endParaRPr>
          </a:p>
          <a:p>
            <a:pPr marL="241300" marR="490855" indent="-228600" algn="just">
              <a:lnSpc>
                <a:spcPct val="90700"/>
              </a:lnSpc>
              <a:spcBef>
                <a:spcPts val="9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Mapping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rate: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percentage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aligned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reference </a:t>
            </a:r>
            <a:r>
              <a:rPr sz="2800" dirty="0">
                <a:latin typeface="Calibri"/>
                <a:cs typeface="Calibri"/>
              </a:rPr>
              <a:t>genome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transcriptome.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contamination.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Alignment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rate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percentage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aligned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reference </a:t>
            </a:r>
            <a:r>
              <a:rPr sz="2800" dirty="0">
                <a:latin typeface="Calibri"/>
                <a:cs typeface="Calibri"/>
              </a:rPr>
              <a:t>genome.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alignment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generally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desirable,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reads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representative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genome.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922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320" dirty="0"/>
              <a:t> </a:t>
            </a:r>
            <a:r>
              <a:rPr dirty="0"/>
              <a:t>control</a:t>
            </a:r>
            <a:r>
              <a:rPr spc="325" dirty="0"/>
              <a:t> </a:t>
            </a:r>
            <a:r>
              <a:rPr dirty="0"/>
              <a:t>metrics-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518" y="1330452"/>
            <a:ext cx="11411585" cy="46005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41300" marR="396875" indent="-228600">
              <a:lnSpc>
                <a:spcPct val="80400"/>
              </a:lnSpc>
              <a:spcBef>
                <a:spcPts val="7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Mean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depth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coverage: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Average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given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sequenced.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high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coverage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generally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desirable,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indicates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low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rates.</a:t>
            </a:r>
            <a:endParaRPr sz="2600">
              <a:latin typeface="Calibri"/>
              <a:cs typeface="Calibri"/>
            </a:endParaRPr>
          </a:p>
          <a:p>
            <a:pPr marL="241300" marR="11430" indent="-228600">
              <a:lnSpc>
                <a:spcPct val="790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GC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content: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Percentage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either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guanine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(G)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cytosine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(C).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dirty="0">
                <a:latin typeface="Calibri"/>
                <a:cs typeface="Calibri"/>
              </a:rPr>
              <a:t>general,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relatively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stable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GC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content,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deviations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expected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GC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content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sign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contamination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issues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sample.</a:t>
            </a:r>
            <a:endParaRPr sz="2600">
              <a:latin typeface="Calibri"/>
              <a:cs typeface="Calibri"/>
            </a:endParaRPr>
          </a:p>
          <a:p>
            <a:pPr marL="241300" marR="417195" indent="-228600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Genome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completeness: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Measure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been </a:t>
            </a:r>
            <a:r>
              <a:rPr sz="2600" dirty="0">
                <a:latin typeface="Calibri"/>
                <a:cs typeface="Calibri"/>
              </a:rPr>
              <a:t>sequenced.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general,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assembly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considered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 </a:t>
            </a:r>
            <a:r>
              <a:rPr sz="2600" spc="-10" dirty="0">
                <a:latin typeface="Calibri"/>
                <a:cs typeface="Calibri"/>
              </a:rPr>
              <a:t>covers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least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95%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expected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size.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N50: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Measure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length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largest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contiguous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(contig)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 </a:t>
            </a:r>
            <a:r>
              <a:rPr sz="2600" spc="-10" dirty="0">
                <a:latin typeface="Calibri"/>
                <a:cs typeface="Calibri"/>
              </a:rPr>
              <a:t>assembly.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N50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generally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desirable,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indicates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assembly</a:t>
            </a:r>
            <a:r>
              <a:rPr sz="2600" spc="6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composed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contigs,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accurate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easier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interpret.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922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320" dirty="0"/>
              <a:t> </a:t>
            </a:r>
            <a:r>
              <a:rPr dirty="0"/>
              <a:t>control</a:t>
            </a:r>
            <a:r>
              <a:rPr spc="325" dirty="0"/>
              <a:t> </a:t>
            </a:r>
            <a:r>
              <a:rPr dirty="0"/>
              <a:t>metrics-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071" y="1503171"/>
            <a:ext cx="10678160" cy="40335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Phred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score: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Score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≥20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50" dirty="0">
                <a:latin typeface="Calibri"/>
                <a:cs typeface="Calibri"/>
              </a:rPr>
              <a:t> 1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10,000,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considered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quality.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9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644525" indent="-228600">
              <a:lnSpc>
                <a:spcPts val="3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Coverage: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Coverage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measure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depth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sequencing,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sequenced.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238760" indent="-228600">
              <a:lnSpc>
                <a:spcPct val="907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Error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rate: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percentage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incorrect.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generally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desirable,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indicates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reads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trusted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downstream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C829339-1C74-4825-ADEB-BCD7E13EFC81}" type="datetime1">
              <a:rPr lang="da-DK" smtClean="0"/>
              <a:pPr/>
              <a:t>04.08.2025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1A926C-488A-4E3E-9C21-57CAA120E114}" type="slidenum">
              <a:rPr lang="da-DK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0AA29-AAB7-584E-982E-B5EA44803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" y="1371600"/>
            <a:ext cx="6144505" cy="472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526F2-6E04-0A4D-B80D-E8FFDFA00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371600"/>
            <a:ext cx="5863196" cy="46482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FE48901-890E-3FC3-0488-B18C3D49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71" y="237904"/>
            <a:ext cx="11514257" cy="661720"/>
          </a:xfrm>
        </p:spPr>
        <p:txBody>
          <a:bodyPr/>
          <a:lstStyle/>
          <a:p>
            <a:r>
              <a:rPr lang="en-DK" dirty="0"/>
              <a:t>FASTQC output </a:t>
            </a:r>
          </a:p>
        </p:txBody>
      </p:sp>
    </p:spTree>
    <p:extLst>
      <p:ext uri="{BB962C8B-B14F-4D97-AF65-F5344CB8AC3E}">
        <p14:creationId xmlns:p14="http://schemas.microsoft.com/office/powerpoint/2010/main" val="1923536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149" y="372016"/>
            <a:ext cx="8684260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General</a:t>
            </a:r>
            <a:r>
              <a:rPr spc="190" dirty="0"/>
              <a:t> </a:t>
            </a:r>
            <a:r>
              <a:rPr dirty="0"/>
              <a:t>acceptable</a:t>
            </a:r>
            <a:r>
              <a:rPr spc="180" dirty="0"/>
              <a:t> </a:t>
            </a:r>
            <a:r>
              <a:rPr spc="50" dirty="0"/>
              <a:t>QC</a:t>
            </a:r>
            <a:r>
              <a:rPr spc="190" dirty="0"/>
              <a:t> </a:t>
            </a:r>
            <a:r>
              <a:rPr dirty="0"/>
              <a:t>metric</a:t>
            </a:r>
            <a:r>
              <a:rPr spc="190" dirty="0"/>
              <a:t> </a:t>
            </a:r>
            <a:r>
              <a:rPr dirty="0"/>
              <a:t>scores</a:t>
            </a:r>
            <a:r>
              <a:rPr spc="180" dirty="0"/>
              <a:t> </a:t>
            </a:r>
            <a:r>
              <a:rPr spc="-5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623" y="883412"/>
            <a:ext cx="10975340" cy="586232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Phred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≥20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99.99%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accuracy)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Coverage: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&gt;70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Contamination: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&lt;5%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≥90%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Error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&lt;1%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GC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content: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narrow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around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expected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organism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Genome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completeness: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≥95%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N50: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≥10,000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bp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Mean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coverage: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≥30x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Alignment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≥90%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640"/>
              </a:lnSpc>
              <a:spcBef>
                <a:spcPts val="11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Duplication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rate: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&lt;5%</a:t>
            </a:r>
            <a:endParaRPr sz="2400">
              <a:latin typeface="Calibri"/>
              <a:cs typeface="Calibri"/>
            </a:endParaRPr>
          </a:p>
          <a:p>
            <a:pPr marL="7178040">
              <a:lnSpc>
                <a:spcPts val="192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They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acceptable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but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standards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922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220" dirty="0"/>
              <a:t> </a:t>
            </a:r>
            <a:r>
              <a:rPr dirty="0"/>
              <a:t>check</a:t>
            </a:r>
            <a:r>
              <a:rPr spc="220" dirty="0"/>
              <a:t> </a:t>
            </a:r>
            <a:r>
              <a:rPr dirty="0"/>
              <a:t>best</a:t>
            </a:r>
            <a:r>
              <a:rPr spc="225" dirty="0"/>
              <a:t> </a:t>
            </a:r>
            <a:r>
              <a:rPr dirty="0"/>
              <a:t>practices</a:t>
            </a:r>
            <a:r>
              <a:rPr spc="225" dirty="0"/>
              <a:t> </a:t>
            </a:r>
            <a:r>
              <a:rPr dirty="0"/>
              <a:t>-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746" y="1423924"/>
            <a:ext cx="10624185" cy="43294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Tips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for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successful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quality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checks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include:</a:t>
            </a:r>
            <a:endParaRPr sz="2800">
              <a:latin typeface="Calibri"/>
              <a:cs typeface="Calibri"/>
            </a:endParaRPr>
          </a:p>
          <a:p>
            <a:pPr marL="294640" indent="-285750">
              <a:lnSpc>
                <a:spcPct val="100000"/>
              </a:lnSpc>
              <a:spcBef>
                <a:spcPts val="335"/>
              </a:spcBef>
              <a:buSzPct val="96428"/>
              <a:buFont typeface="Wingdings"/>
              <a:buChar char=""/>
              <a:tabLst>
                <a:tab pos="294640" algn="l"/>
              </a:tabLst>
            </a:pPr>
            <a:r>
              <a:rPr sz="2800" dirty="0">
                <a:latin typeface="Calibri"/>
                <a:cs typeface="Calibri"/>
              </a:rPr>
              <a:t>Ensuring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high-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94640" indent="-285750">
              <a:lnSpc>
                <a:spcPct val="100000"/>
              </a:lnSpc>
              <a:spcBef>
                <a:spcPts val="335"/>
              </a:spcBef>
              <a:buSzPct val="96428"/>
              <a:buFont typeface="Wingdings"/>
              <a:buChar char=""/>
              <a:tabLst>
                <a:tab pos="294640" algn="l"/>
              </a:tabLst>
            </a:pPr>
            <a:r>
              <a:rPr sz="2800" dirty="0">
                <a:latin typeface="Calibri"/>
                <a:cs typeface="Calibri"/>
              </a:rPr>
              <a:t>Selecting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appropriate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parameters</a:t>
            </a:r>
            <a:endParaRPr sz="2800">
              <a:latin typeface="Calibri"/>
              <a:cs typeface="Calibri"/>
            </a:endParaRPr>
          </a:p>
          <a:p>
            <a:pPr marL="240665" marR="475615" indent="-232410">
              <a:lnSpc>
                <a:spcPts val="2710"/>
              </a:lnSpc>
              <a:spcBef>
                <a:spcPts val="969"/>
              </a:spcBef>
              <a:buSzPct val="96428"/>
              <a:buFont typeface="Wingdings"/>
              <a:buChar char=""/>
              <a:tabLst>
                <a:tab pos="240665" algn="l"/>
                <a:tab pos="294005" algn="l"/>
              </a:tabLst>
            </a:pPr>
            <a:r>
              <a:rPr sz="2800" dirty="0">
                <a:latin typeface="Calibri"/>
                <a:cs typeface="Calibri"/>
              </a:rPr>
              <a:t>	Optimizing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workflow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increase efficiency.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800">
              <a:latin typeface="Calibri"/>
              <a:cs typeface="Calibri"/>
            </a:endParaRPr>
          </a:p>
          <a:p>
            <a:pPr marL="240665" marR="5080" indent="-228600">
              <a:lnSpc>
                <a:spcPts val="269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Calibri"/>
                <a:cs typeface="Calibri"/>
              </a:rPr>
              <a:t>Quality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check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parameters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should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tailored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type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sequencing </a:t>
            </a:r>
            <a:r>
              <a:rPr sz="2800" b="1" dirty="0">
                <a:latin typeface="Calibri"/>
                <a:cs typeface="Calibri"/>
              </a:rPr>
              <a:t>data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research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question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being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addressed:</a:t>
            </a:r>
            <a:endParaRPr sz="2800">
              <a:latin typeface="Calibri"/>
              <a:cs typeface="Calibri"/>
            </a:endParaRPr>
          </a:p>
          <a:p>
            <a:pPr marL="240665" marR="221615" indent="-232410">
              <a:lnSpc>
                <a:spcPts val="2690"/>
              </a:lnSpc>
              <a:spcBef>
                <a:spcPts val="1030"/>
              </a:spcBef>
              <a:buSzPct val="96428"/>
              <a:buFont typeface="Wingdings"/>
              <a:buChar char=""/>
              <a:tabLst>
                <a:tab pos="240665" algn="l"/>
                <a:tab pos="294005" algn="l"/>
              </a:tabLst>
            </a:pPr>
            <a:r>
              <a:rPr sz="2800" spc="-10" dirty="0">
                <a:latin typeface="Calibri"/>
                <a:cs typeface="Calibri"/>
              </a:rPr>
              <a:t>	Different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quality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required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 </a:t>
            </a:r>
            <a:r>
              <a:rPr sz="2800" dirty="0">
                <a:latin typeface="Calibri"/>
                <a:cs typeface="Calibri"/>
              </a:rPr>
              <a:t>sequencing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1922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110"/>
              </a:spcBef>
            </a:pPr>
            <a:r>
              <a:rPr dirty="0"/>
              <a:t>Quality</a:t>
            </a:r>
            <a:r>
              <a:rPr spc="220" dirty="0"/>
              <a:t> </a:t>
            </a:r>
            <a:r>
              <a:rPr dirty="0"/>
              <a:t>check</a:t>
            </a:r>
            <a:r>
              <a:rPr spc="220" dirty="0"/>
              <a:t> </a:t>
            </a:r>
            <a:r>
              <a:rPr dirty="0"/>
              <a:t>best</a:t>
            </a:r>
            <a:r>
              <a:rPr spc="225" dirty="0"/>
              <a:t> </a:t>
            </a:r>
            <a:r>
              <a:rPr dirty="0"/>
              <a:t>practices</a:t>
            </a:r>
            <a:r>
              <a:rPr spc="225" dirty="0"/>
              <a:t> </a:t>
            </a:r>
            <a:r>
              <a:rPr dirty="0"/>
              <a:t>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5355"/>
            <a:ext cx="9721215" cy="43840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Quality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check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optimization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involves:</a:t>
            </a:r>
            <a:endParaRPr sz="2600">
              <a:latin typeface="Calibri"/>
              <a:cs typeface="Calibri"/>
            </a:endParaRPr>
          </a:p>
          <a:p>
            <a:pPr marL="274320" indent="-265430">
              <a:lnSpc>
                <a:spcPct val="100000"/>
              </a:lnSpc>
              <a:spcBef>
                <a:spcPts val="69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libri"/>
                <a:cs typeface="Calibri"/>
              </a:rPr>
              <a:t>Selecting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appropriate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tools</a:t>
            </a:r>
            <a:endParaRPr sz="2600">
              <a:latin typeface="Calibri"/>
              <a:cs typeface="Calibri"/>
            </a:endParaRPr>
          </a:p>
          <a:p>
            <a:pPr marL="274320" indent="-265430">
              <a:lnSpc>
                <a:spcPct val="100000"/>
              </a:lnSpc>
              <a:spcBef>
                <a:spcPts val="67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libri"/>
                <a:cs typeface="Calibri"/>
              </a:rPr>
              <a:t>Setting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appropriate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thresholds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parameters</a:t>
            </a:r>
            <a:endParaRPr sz="2600">
              <a:latin typeface="Calibri"/>
              <a:cs typeface="Calibri"/>
            </a:endParaRPr>
          </a:p>
          <a:p>
            <a:pPr marL="274320" indent="-265430">
              <a:lnSpc>
                <a:spcPct val="100000"/>
              </a:lnSpc>
              <a:spcBef>
                <a:spcPts val="67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libri"/>
                <a:cs typeface="Calibri"/>
              </a:rPr>
              <a:t>Ensuring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workflow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efficient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Workflow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management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is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also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essential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for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successful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quality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checks:</a:t>
            </a:r>
            <a:endParaRPr sz="2600">
              <a:latin typeface="Calibri"/>
              <a:cs typeface="Calibri"/>
            </a:endParaRPr>
          </a:p>
          <a:p>
            <a:pPr marL="274320" indent="-265430">
              <a:lnSpc>
                <a:spcPct val="100000"/>
              </a:lnSpc>
              <a:spcBef>
                <a:spcPts val="69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libri"/>
                <a:cs typeface="Calibri"/>
              </a:rPr>
              <a:t>Creating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clear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reproducible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workflow</a:t>
            </a:r>
            <a:endParaRPr sz="2600">
              <a:latin typeface="Calibri"/>
              <a:cs typeface="Calibri"/>
            </a:endParaRPr>
          </a:p>
          <a:p>
            <a:pPr marL="274320" indent="-265430">
              <a:lnSpc>
                <a:spcPct val="100000"/>
              </a:lnSpc>
              <a:spcBef>
                <a:spcPts val="67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-25" dirty="0">
                <a:latin typeface="Calibri"/>
                <a:cs typeface="Calibri"/>
              </a:rPr>
              <a:t>Tracking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sample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status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throughout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workflow</a:t>
            </a:r>
            <a:endParaRPr sz="2600">
              <a:latin typeface="Calibri"/>
              <a:cs typeface="Calibri"/>
            </a:endParaRPr>
          </a:p>
          <a:p>
            <a:pPr marL="274320" indent="-265430">
              <a:lnSpc>
                <a:spcPct val="100000"/>
              </a:lnSpc>
              <a:spcBef>
                <a:spcPts val="67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libri"/>
                <a:cs typeface="Calibri"/>
              </a:rPr>
              <a:t>Documenting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decisions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8055" y="237904"/>
            <a:ext cx="216217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3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153" y="1196340"/>
            <a:ext cx="11322685" cy="49784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marR="324485" indent="-2286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essential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ensuring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accuracy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reliability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genomics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surveillance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bacterial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antimicrobial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resistance.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29845" indent="-228600">
              <a:lnSpc>
                <a:spcPct val="804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identifying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addressing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biases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help </a:t>
            </a:r>
            <a:r>
              <a:rPr sz="2600" spc="-10" dirty="0">
                <a:latin typeface="Calibri"/>
                <a:cs typeface="Calibri"/>
              </a:rPr>
              <a:t>researchers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public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officials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decisions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take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actions.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213995" indent="-228600">
              <a:lnSpc>
                <a:spcPts val="25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Successful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require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careful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selection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parameters, optimization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workflow,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workflow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management.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critical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role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future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genomics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surveillance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bacterial antimicrobial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resistance,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continue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sequencing </a:t>
            </a:r>
            <a:r>
              <a:rPr sz="2600" dirty="0">
                <a:latin typeface="Calibri"/>
                <a:cs typeface="Calibri"/>
              </a:rPr>
              <a:t>technologies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analytical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developed.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549798"/>
            <a:ext cx="4081106" cy="3209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7A5142-8FDC-B9E9-85AC-A1259F6B7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740" y="3912056"/>
            <a:ext cx="7520155" cy="28914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C74165-3521-CCDA-6D32-7DF6844C52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t="62172" r="45526" b="27602"/>
          <a:stretch/>
        </p:blipFill>
        <p:spPr>
          <a:xfrm>
            <a:off x="40105" y="6321286"/>
            <a:ext cx="4135971" cy="4953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95656A-6F4B-3F96-81B2-E297F744DA7E}"/>
              </a:ext>
            </a:extLst>
          </p:cNvPr>
          <p:cNvSpPr txBox="1"/>
          <p:nvPr/>
        </p:nvSpPr>
        <p:spPr>
          <a:xfrm>
            <a:off x="0" y="4703587"/>
            <a:ext cx="42688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Gildas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b="1" kern="0" dirty="0" err="1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Hounmanou</a:t>
            </a:r>
            <a:r>
              <a:rPr lang="en-US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PhD 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2D4E8A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APTI-Fellow, National Institutes of Health, MD, USA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DK" sz="1200" b="1" kern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Assistant-Professor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1200" kern="0" dirty="0">
                <a:solidFill>
                  <a:srgbClr val="044A9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5" tooltip="https://orcid.org/0000-0003-3991-0864"/>
              </a:rPr>
              <a:t>https://orcid.org/0000-0003-3991-0864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University of Copenhagen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Faculty of Health and Medical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Section for Food Safety and Zoonoses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Department of Veterinary and Animal Sciences</a:t>
            </a:r>
            <a:endParaRPr lang="en-DK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1514</Words>
  <Application>Microsoft Macintosh PowerPoint</Application>
  <PresentationFormat>Widescreen</PresentationFormat>
  <Paragraphs>153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 MT</vt:lpstr>
      <vt:lpstr>Calibri</vt:lpstr>
      <vt:lpstr>Calibri Light</vt:lpstr>
      <vt:lpstr>Verdana</vt:lpstr>
      <vt:lpstr>Wingdings</vt:lpstr>
      <vt:lpstr>Office Theme</vt:lpstr>
      <vt:lpstr>PowerPoint Presentation</vt:lpstr>
      <vt:lpstr>Outline</vt:lpstr>
      <vt:lpstr>Introduction</vt:lpstr>
      <vt:lpstr>The importance of quality checks in genomics data</vt:lpstr>
      <vt:lpstr>Quality checks overview</vt:lpstr>
      <vt:lpstr>Read Filtering</vt:lpstr>
      <vt:lpstr>Trimming</vt:lpstr>
      <vt:lpstr>Contamination assessment</vt:lpstr>
      <vt:lpstr>Quality control tools</vt:lpstr>
      <vt:lpstr>Quality control metrics-1</vt:lpstr>
      <vt:lpstr>Quality control metrics-2</vt:lpstr>
      <vt:lpstr>Quality control metrics-3</vt:lpstr>
      <vt:lpstr>FASTQC output </vt:lpstr>
      <vt:lpstr>General acceptable QC metric scores *</vt:lpstr>
      <vt:lpstr>Quality check best practices -1</vt:lpstr>
      <vt:lpstr>Quality check best practices -2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Yaovi Mahuton Gildas Hounmanou</cp:lastModifiedBy>
  <cp:revision>3</cp:revision>
  <dcterms:created xsi:type="dcterms:W3CDTF">2025-07-26T16:08:49Z</dcterms:created>
  <dcterms:modified xsi:type="dcterms:W3CDTF">2025-08-04T22:55:45Z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2025-07-26T00:00:00Z</vt:filetime>
  </property>
  <property fmtid="{D5CDD505-2E9C-101B-9397-08002B2CF9AE}" pid="3" name="LastSaved">
    <vt:filetime>2025-07-26T00:00:00Z</vt:filetime>
  </property>
  <property fmtid="{D5CDD505-2E9C-101B-9397-08002B2CF9AE}" pid="4" name="Producer">
    <vt:lpwstr>3-Heights™ PDF Merge Split Shell 6.12.1.11 (http://www.pdf-tools.com)</vt:lpwstr>
  </property>
</Properties>
</file>
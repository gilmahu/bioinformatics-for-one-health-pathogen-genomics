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media/image4.jpg" ContentType="image/jpe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89" r:id="rId23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94"/>
  </p:normalViewPr>
  <p:slideViewPr>
    <p:cSldViewPr>
      <p:cViewPr varScale="1">
        <p:scale>
          <a:sx n="121" d="100"/>
          <a:sy n="121" d="100"/>
        </p:scale>
        <p:origin x="744" y="17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6939" y="615856"/>
            <a:ext cx="1343025" cy="6832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3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8/4/25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3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8/4/25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3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8/4/25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3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8/4/25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8/4/25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17850" y="94648"/>
            <a:ext cx="11556299" cy="12807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3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17848" y="1632204"/>
            <a:ext cx="11501755" cy="47288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8/4/25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orcid.org/0000-0003-3991-0864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5.xml"/><Relationship Id="rId5" Type="http://schemas.openxmlformats.org/officeDocument/2006/relationships/hyperlink" Target="https://orcid.org/0000-0003-3991-0864" TargetMode="Externa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267017" y="762000"/>
            <a:ext cx="11657965" cy="1863331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30"/>
              </a:spcBef>
            </a:pPr>
            <a:r>
              <a:rPr sz="6000" b="1" dirty="0">
                <a:solidFill>
                  <a:srgbClr val="C00000"/>
                </a:solidFill>
                <a:latin typeface="Calibri Light"/>
                <a:cs typeface="Calibri Light"/>
              </a:rPr>
              <a:t>Piecing</a:t>
            </a:r>
            <a:r>
              <a:rPr sz="6000" b="1" spc="150" dirty="0">
                <a:solidFill>
                  <a:srgbClr val="C00000"/>
                </a:solidFill>
                <a:latin typeface="Calibri Light"/>
                <a:cs typeface="Calibri Light"/>
              </a:rPr>
              <a:t> </a:t>
            </a:r>
            <a:r>
              <a:rPr sz="6000" b="1" dirty="0">
                <a:solidFill>
                  <a:srgbClr val="C00000"/>
                </a:solidFill>
                <a:latin typeface="Calibri Light"/>
                <a:cs typeface="Calibri Light"/>
              </a:rPr>
              <a:t>Together</a:t>
            </a:r>
            <a:r>
              <a:rPr sz="6000" b="1" spc="150" dirty="0">
                <a:solidFill>
                  <a:srgbClr val="C00000"/>
                </a:solidFill>
                <a:latin typeface="Calibri Light"/>
                <a:cs typeface="Calibri Light"/>
              </a:rPr>
              <a:t> </a:t>
            </a:r>
            <a:r>
              <a:rPr sz="6000" b="1" dirty="0">
                <a:solidFill>
                  <a:srgbClr val="C00000"/>
                </a:solidFill>
                <a:latin typeface="Calibri Light"/>
                <a:cs typeface="Calibri Light"/>
              </a:rPr>
              <a:t>the</a:t>
            </a:r>
            <a:r>
              <a:rPr sz="6000" b="1" spc="145" dirty="0">
                <a:solidFill>
                  <a:srgbClr val="C00000"/>
                </a:solidFill>
                <a:latin typeface="Calibri Light"/>
                <a:cs typeface="Calibri Light"/>
              </a:rPr>
              <a:t> </a:t>
            </a:r>
            <a:r>
              <a:rPr sz="6000" b="1" dirty="0">
                <a:solidFill>
                  <a:srgbClr val="C00000"/>
                </a:solidFill>
                <a:latin typeface="Calibri Light"/>
                <a:cs typeface="Calibri Light"/>
              </a:rPr>
              <a:t>Puzzle:</a:t>
            </a:r>
            <a:r>
              <a:rPr sz="6000" b="1" spc="160" dirty="0">
                <a:solidFill>
                  <a:srgbClr val="C00000"/>
                </a:solidFill>
                <a:latin typeface="Calibri Light"/>
                <a:cs typeface="Calibri Light"/>
              </a:rPr>
              <a:t> </a:t>
            </a:r>
            <a:r>
              <a:rPr sz="6000" b="1" dirty="0">
                <a:solidFill>
                  <a:srgbClr val="C00000"/>
                </a:solidFill>
                <a:latin typeface="Calibri Light"/>
                <a:cs typeface="Calibri Light"/>
              </a:rPr>
              <a:t>Bacterial</a:t>
            </a:r>
            <a:r>
              <a:rPr sz="6000" b="1" spc="160" dirty="0">
                <a:solidFill>
                  <a:srgbClr val="C00000"/>
                </a:solidFill>
                <a:latin typeface="Calibri Light"/>
                <a:cs typeface="Calibri Light"/>
              </a:rPr>
              <a:t> </a:t>
            </a:r>
            <a:r>
              <a:rPr sz="6000" b="1" spc="45" dirty="0">
                <a:solidFill>
                  <a:srgbClr val="C00000"/>
                </a:solidFill>
                <a:latin typeface="Calibri Light"/>
                <a:cs typeface="Calibri Light"/>
              </a:rPr>
              <a:t>Assembly</a:t>
            </a:r>
            <a:r>
              <a:rPr sz="6000" b="1" spc="155" dirty="0">
                <a:solidFill>
                  <a:srgbClr val="C00000"/>
                </a:solidFill>
                <a:latin typeface="Calibri Light"/>
                <a:cs typeface="Calibri Light"/>
              </a:rPr>
              <a:t> </a:t>
            </a:r>
            <a:r>
              <a:rPr sz="6000" b="1" dirty="0">
                <a:solidFill>
                  <a:srgbClr val="C00000"/>
                </a:solidFill>
                <a:latin typeface="Calibri Light"/>
                <a:cs typeface="Calibri Light"/>
              </a:rPr>
              <a:t>and</a:t>
            </a:r>
            <a:r>
              <a:rPr sz="6000" b="1" spc="160" dirty="0">
                <a:solidFill>
                  <a:srgbClr val="C00000"/>
                </a:solidFill>
                <a:latin typeface="Calibri Light"/>
                <a:cs typeface="Calibri Light"/>
              </a:rPr>
              <a:t> </a:t>
            </a:r>
            <a:r>
              <a:rPr sz="6000" b="1" spc="-10" dirty="0">
                <a:solidFill>
                  <a:srgbClr val="C00000"/>
                </a:solidFill>
                <a:latin typeface="Calibri Light"/>
                <a:cs typeface="Calibri Light"/>
              </a:rPr>
              <a:t>Annotation</a:t>
            </a:r>
            <a:endParaRPr sz="6000" b="1" dirty="0">
              <a:solidFill>
                <a:srgbClr val="C00000"/>
              </a:solidFill>
              <a:latin typeface="Calibri Light"/>
              <a:cs typeface="Calibri Light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F2884EF-8FFA-BDD0-0FB7-450EB38CA86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48" t="62172" r="45526" b="27602"/>
          <a:stretch/>
        </p:blipFill>
        <p:spPr>
          <a:xfrm>
            <a:off x="207429" y="5949850"/>
            <a:ext cx="4135971" cy="49538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7693610-953B-1724-DD9A-9C36D565DCF6}"/>
              </a:ext>
            </a:extLst>
          </p:cNvPr>
          <p:cNvSpPr txBox="1"/>
          <p:nvPr/>
        </p:nvSpPr>
        <p:spPr>
          <a:xfrm>
            <a:off x="0" y="4332151"/>
            <a:ext cx="4268855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 b="1" kern="0" dirty="0" err="1">
                <a:solidFill>
                  <a:srgbClr val="00206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Gildas</a:t>
            </a:r>
            <a:r>
              <a:rPr lang="en-US" sz="1200" b="1" kern="0" dirty="0">
                <a:solidFill>
                  <a:srgbClr val="00206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US" sz="1200" b="1" kern="0" dirty="0" err="1">
                <a:solidFill>
                  <a:srgbClr val="00206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Hounmanou</a:t>
            </a:r>
            <a:r>
              <a:rPr lang="en-US" sz="1200" b="1" kern="0" dirty="0">
                <a:solidFill>
                  <a:srgbClr val="00206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PhD </a:t>
            </a:r>
            <a:endParaRPr lang="en-DK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algn="ctr"/>
            <a:r>
              <a:rPr lang="en-US" sz="1200" kern="0" dirty="0">
                <a:solidFill>
                  <a:srgbClr val="2D4E8A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APTI-Fellow, National Institutes of Health, MD, USA</a:t>
            </a:r>
            <a:endParaRPr lang="en-DK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algn="ctr"/>
            <a:r>
              <a:rPr lang="en-DK" sz="1200" b="1" kern="0" dirty="0">
                <a:solidFill>
                  <a:srgbClr val="00206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Assistant-Professor</a:t>
            </a:r>
            <a:endParaRPr lang="en-DK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algn="ctr"/>
            <a:r>
              <a:rPr lang="en-GB" sz="1200" kern="0" dirty="0">
                <a:solidFill>
                  <a:srgbClr val="044A91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Calibri" panose="020F0502020204030204" pitchFamily="34" charset="0"/>
                <a:hlinkClick r:id="rId3" tooltip="https://orcid.org/0000-0003-3991-0864"/>
              </a:rPr>
              <a:t>https://orcid.org/0000-0003-3991-0864</a:t>
            </a:r>
            <a:endParaRPr lang="en-DK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algn="ctr"/>
            <a:r>
              <a:rPr lang="en-US" sz="1200" b="1" kern="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University of Copenhagen</a:t>
            </a:r>
            <a:endParaRPr lang="en-DK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algn="ctr"/>
            <a:r>
              <a:rPr lang="en-US" sz="1200" kern="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Faculty of Health and Medical Sciences</a:t>
            </a:r>
            <a:endParaRPr lang="en-DK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algn="ctr"/>
            <a:r>
              <a:rPr lang="en-US" sz="1200" kern="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Section for Food Safety and Zoonoses</a:t>
            </a:r>
            <a:endParaRPr lang="en-DK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algn="ctr"/>
            <a:r>
              <a:rPr lang="en-US" sz="1200" kern="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Department of Veterinary and Animal Sciences</a:t>
            </a:r>
            <a:endParaRPr lang="en-DK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10" name="Picture 2" descr="DNA | Definition, Discovery, Function, Bases, Facts, &amp; Structure |  Britannica">
            <a:extLst>
              <a:ext uri="{FF2B5EF4-FFF2-40B4-BE49-F238E27FC236}">
                <a16:creationId xmlns:a16="http://schemas.microsoft.com/office/drawing/2014/main" id="{AA51F468-7991-EECF-BA49-B2B1637D40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28666" y="4114800"/>
            <a:ext cx="4063334" cy="2285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4788" y="41317"/>
            <a:ext cx="10220960" cy="6235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3900" dirty="0"/>
              <a:t>Introduction</a:t>
            </a:r>
            <a:r>
              <a:rPr sz="3900" spc="195" dirty="0"/>
              <a:t> </a:t>
            </a:r>
            <a:r>
              <a:rPr sz="3900" dirty="0"/>
              <a:t>to</a:t>
            </a:r>
            <a:r>
              <a:rPr sz="3900" spc="200" dirty="0"/>
              <a:t> </a:t>
            </a:r>
            <a:r>
              <a:rPr sz="3900" dirty="0"/>
              <a:t>bacterial</a:t>
            </a:r>
            <a:r>
              <a:rPr sz="3900" spc="210" dirty="0"/>
              <a:t> </a:t>
            </a:r>
            <a:r>
              <a:rPr sz="3900" dirty="0"/>
              <a:t>assembly</a:t>
            </a:r>
            <a:r>
              <a:rPr sz="3900" spc="195" dirty="0"/>
              <a:t> </a:t>
            </a:r>
            <a:r>
              <a:rPr sz="3900" dirty="0"/>
              <a:t>and</a:t>
            </a:r>
            <a:r>
              <a:rPr sz="3900" spc="195" dirty="0"/>
              <a:t> </a:t>
            </a:r>
            <a:r>
              <a:rPr sz="3900" spc="-10" dirty="0"/>
              <a:t>annotation</a:t>
            </a:r>
            <a:endParaRPr sz="3900"/>
          </a:p>
        </p:txBody>
      </p:sp>
      <p:sp>
        <p:nvSpPr>
          <p:cNvPr id="3" name="object 3"/>
          <p:cNvSpPr txBox="1"/>
          <p:nvPr/>
        </p:nvSpPr>
        <p:spPr>
          <a:xfrm>
            <a:off x="254787" y="728979"/>
            <a:ext cx="11684000" cy="5448300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434"/>
              </a:spcBef>
              <a:buFont typeface="Arial MT"/>
              <a:buChar char="•"/>
              <a:tabLst>
                <a:tab pos="240665" algn="l"/>
              </a:tabLst>
            </a:pPr>
            <a:r>
              <a:rPr sz="2800" dirty="0">
                <a:latin typeface="Calibri"/>
                <a:cs typeface="Calibri"/>
              </a:rPr>
              <a:t>Assembly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annotation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are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essential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steps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analyzing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genomic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data</a:t>
            </a:r>
            <a:endParaRPr sz="2800">
              <a:latin typeface="Calibri"/>
              <a:cs typeface="Calibri"/>
            </a:endParaRPr>
          </a:p>
          <a:p>
            <a:pPr marL="241300" marR="113030" indent="-228600">
              <a:lnSpc>
                <a:spcPct val="80400"/>
              </a:lnSpc>
              <a:spcBef>
                <a:spcPts val="994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b="1" dirty="0">
                <a:latin typeface="Calibri"/>
                <a:cs typeface="Calibri"/>
              </a:rPr>
              <a:t>Assembly</a:t>
            </a:r>
            <a:r>
              <a:rPr sz="2800" b="1" spc="-60" dirty="0">
                <a:latin typeface="Calibri"/>
                <a:cs typeface="Calibri"/>
              </a:rPr>
              <a:t> </a:t>
            </a:r>
            <a:r>
              <a:rPr sz="2800" b="1" spc="-10" dirty="0">
                <a:latin typeface="Calibri"/>
                <a:cs typeface="Calibri"/>
              </a:rPr>
              <a:t>r</a:t>
            </a:r>
            <a:r>
              <a:rPr sz="2800" spc="-10" dirty="0">
                <a:latin typeface="Calibri"/>
                <a:cs typeface="Calibri"/>
              </a:rPr>
              <a:t>efers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process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piecing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together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short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reads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DNA </a:t>
            </a:r>
            <a:r>
              <a:rPr sz="2800" dirty="0">
                <a:latin typeface="Calibri"/>
                <a:cs typeface="Calibri"/>
              </a:rPr>
              <a:t>sequence</a:t>
            </a:r>
            <a:r>
              <a:rPr sz="2800" spc="-10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into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spc="-30" dirty="0">
                <a:latin typeface="Calibri"/>
                <a:cs typeface="Calibri"/>
              </a:rPr>
              <a:t>longer,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contiguous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sequences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(called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contigs)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that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represent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the </a:t>
            </a:r>
            <a:r>
              <a:rPr sz="2800" dirty="0">
                <a:latin typeface="Calibri"/>
                <a:cs typeface="Calibri"/>
              </a:rPr>
              <a:t>genome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organism.</a:t>
            </a:r>
            <a:endParaRPr sz="2800">
              <a:latin typeface="Calibri"/>
              <a:cs typeface="Calibri"/>
            </a:endParaRPr>
          </a:p>
          <a:p>
            <a:pPr marL="240665" indent="-227965">
              <a:lnSpc>
                <a:spcPts val="3025"/>
              </a:lnSpc>
              <a:spcBef>
                <a:spcPts val="360"/>
              </a:spcBef>
              <a:buFont typeface="Arial MT"/>
              <a:buChar char="•"/>
              <a:tabLst>
                <a:tab pos="240665" algn="l"/>
              </a:tabLst>
            </a:pPr>
            <a:r>
              <a:rPr sz="2800" b="1" dirty="0">
                <a:latin typeface="Calibri"/>
                <a:cs typeface="Calibri"/>
              </a:rPr>
              <a:t>Annotation</a:t>
            </a:r>
            <a:r>
              <a:rPr sz="2800" b="1" spc="-8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refers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process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identifying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labeling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specific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genomic</a:t>
            </a:r>
            <a:endParaRPr sz="2800">
              <a:latin typeface="Calibri"/>
              <a:cs typeface="Calibri"/>
            </a:endParaRPr>
          </a:p>
          <a:p>
            <a:pPr marL="241300" marR="5080">
              <a:lnSpc>
                <a:spcPct val="77100"/>
              </a:lnSpc>
              <a:spcBef>
                <a:spcPts val="434"/>
              </a:spcBef>
            </a:pPr>
            <a:r>
              <a:rPr sz="2800" spc="-10" dirty="0">
                <a:latin typeface="Calibri"/>
                <a:cs typeface="Calibri"/>
              </a:rPr>
              <a:t>features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(such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as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genes,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regulatory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elements,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repeat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sequences)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within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the </a:t>
            </a:r>
            <a:r>
              <a:rPr sz="2800" dirty="0">
                <a:latin typeface="Calibri"/>
                <a:cs typeface="Calibri"/>
              </a:rPr>
              <a:t>assembled</a:t>
            </a:r>
            <a:r>
              <a:rPr sz="2800" spc="-12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genome.</a:t>
            </a:r>
            <a:endParaRPr sz="2800">
              <a:latin typeface="Calibri"/>
              <a:cs typeface="Calibri"/>
            </a:endParaRPr>
          </a:p>
          <a:p>
            <a:pPr marL="241300" marR="256540" indent="-228600">
              <a:lnSpc>
                <a:spcPct val="80200"/>
              </a:lnSpc>
              <a:spcBef>
                <a:spcPts val="1025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The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goal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assembly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annotation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is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create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complete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accurate representation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bacterial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genome,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which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can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used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understand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the </a:t>
            </a:r>
            <a:r>
              <a:rPr sz="2800" dirty="0">
                <a:latin typeface="Calibri"/>
                <a:cs typeface="Calibri"/>
              </a:rPr>
              <a:t>organism's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biology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potential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interactions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with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other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organisms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or </a:t>
            </a:r>
            <a:r>
              <a:rPr sz="2800" spc="-10" dirty="0">
                <a:latin typeface="Calibri"/>
                <a:cs typeface="Calibri"/>
              </a:rPr>
              <a:t>environments.</a:t>
            </a:r>
            <a:endParaRPr sz="2800">
              <a:latin typeface="Calibri"/>
              <a:cs typeface="Calibri"/>
            </a:endParaRPr>
          </a:p>
          <a:p>
            <a:pPr marL="241300" marR="136525" indent="-228600" algn="just">
              <a:lnSpc>
                <a:spcPct val="80400"/>
              </a:lnSpc>
              <a:spcBef>
                <a:spcPts val="990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Annotation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can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be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performed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using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variety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tools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databases,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including </a:t>
            </a:r>
            <a:r>
              <a:rPr sz="2800" dirty="0">
                <a:latin typeface="Calibri"/>
                <a:cs typeface="Calibri"/>
              </a:rPr>
              <a:t>gene</a:t>
            </a:r>
            <a:r>
              <a:rPr sz="2800" spc="-10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prediction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algorithms,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functional</a:t>
            </a:r>
            <a:r>
              <a:rPr sz="2800" spc="-10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annotation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databases,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comparative </a:t>
            </a:r>
            <a:r>
              <a:rPr sz="2800" dirty="0">
                <a:latin typeface="Calibri"/>
                <a:cs typeface="Calibri"/>
              </a:rPr>
              <a:t>genomics</a:t>
            </a:r>
            <a:r>
              <a:rPr sz="2800" spc="-11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tools.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2550" rIns="0" bIns="0" rtlCol="0">
            <a:spAutoFit/>
          </a:bodyPr>
          <a:lstStyle/>
          <a:p>
            <a:pPr marL="12700" marR="5080">
              <a:lnSpc>
                <a:spcPts val="4700"/>
              </a:lnSpc>
              <a:spcBef>
                <a:spcPts val="650"/>
              </a:spcBef>
            </a:pPr>
            <a:r>
              <a:rPr dirty="0"/>
              <a:t>Understanding</a:t>
            </a:r>
            <a:r>
              <a:rPr spc="250" dirty="0"/>
              <a:t> </a:t>
            </a:r>
            <a:r>
              <a:rPr dirty="0"/>
              <a:t>de-novo</a:t>
            </a:r>
            <a:r>
              <a:rPr spc="254" dirty="0"/>
              <a:t> </a:t>
            </a:r>
            <a:r>
              <a:rPr dirty="0"/>
              <a:t>and</a:t>
            </a:r>
            <a:r>
              <a:rPr spc="254" dirty="0"/>
              <a:t> </a:t>
            </a:r>
            <a:r>
              <a:rPr dirty="0"/>
              <a:t>reference-</a:t>
            </a:r>
            <a:r>
              <a:rPr spc="-10" dirty="0"/>
              <a:t>based </a:t>
            </a:r>
            <a:r>
              <a:rPr dirty="0"/>
              <a:t>assembly</a:t>
            </a:r>
            <a:r>
              <a:rPr spc="335" dirty="0"/>
              <a:t> </a:t>
            </a:r>
            <a:r>
              <a:rPr spc="-10" dirty="0"/>
              <a:t>methods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240665" marR="1356360" indent="-228600">
              <a:lnSpc>
                <a:spcPts val="2500"/>
              </a:lnSpc>
              <a:spcBef>
                <a:spcPts val="700"/>
              </a:spcBef>
              <a:buFont typeface="Arial MT"/>
              <a:buChar char="•"/>
              <a:tabLst>
                <a:tab pos="240665" algn="l"/>
              </a:tabLst>
            </a:pPr>
            <a:r>
              <a:rPr sz="2600" b="1" spc="-20" dirty="0">
                <a:latin typeface="Calibri"/>
                <a:cs typeface="Calibri"/>
              </a:rPr>
              <a:t>De-</a:t>
            </a:r>
            <a:r>
              <a:rPr sz="2600" b="1" dirty="0">
                <a:latin typeface="Calibri"/>
                <a:cs typeface="Calibri"/>
              </a:rPr>
              <a:t>novo</a:t>
            </a:r>
            <a:r>
              <a:rPr sz="2600" b="1" spc="-60" dirty="0">
                <a:latin typeface="Calibri"/>
                <a:cs typeface="Calibri"/>
              </a:rPr>
              <a:t> </a:t>
            </a:r>
            <a:r>
              <a:rPr sz="2600" b="1" dirty="0">
                <a:latin typeface="Calibri"/>
                <a:cs typeface="Calibri"/>
              </a:rPr>
              <a:t>assembly</a:t>
            </a:r>
            <a:r>
              <a:rPr sz="2600" b="1" spc="-55" dirty="0">
                <a:latin typeface="Calibri"/>
                <a:cs typeface="Calibri"/>
              </a:rPr>
              <a:t> </a:t>
            </a:r>
            <a:r>
              <a:rPr sz="2600" dirty="0"/>
              <a:t>is</a:t>
            </a:r>
            <a:r>
              <a:rPr sz="2600" spc="-60" dirty="0"/>
              <a:t> </a:t>
            </a:r>
            <a:r>
              <a:rPr sz="2600" dirty="0"/>
              <a:t>a</a:t>
            </a:r>
            <a:r>
              <a:rPr sz="2600" spc="-60" dirty="0"/>
              <a:t> </a:t>
            </a:r>
            <a:r>
              <a:rPr sz="2600" dirty="0"/>
              <a:t>method</a:t>
            </a:r>
            <a:r>
              <a:rPr sz="2600" spc="-60" dirty="0"/>
              <a:t> </a:t>
            </a:r>
            <a:r>
              <a:rPr sz="2600" dirty="0"/>
              <a:t>of</a:t>
            </a:r>
            <a:r>
              <a:rPr sz="2600" spc="-65" dirty="0"/>
              <a:t> </a:t>
            </a:r>
            <a:r>
              <a:rPr sz="2600" dirty="0"/>
              <a:t>piecing</a:t>
            </a:r>
            <a:r>
              <a:rPr sz="2600" spc="-60" dirty="0"/>
              <a:t> </a:t>
            </a:r>
            <a:r>
              <a:rPr sz="2600" dirty="0"/>
              <a:t>together</a:t>
            </a:r>
            <a:r>
              <a:rPr sz="2600" spc="-50" dirty="0"/>
              <a:t> </a:t>
            </a:r>
            <a:r>
              <a:rPr sz="2600" dirty="0"/>
              <a:t>short</a:t>
            </a:r>
            <a:r>
              <a:rPr sz="2600" spc="-60" dirty="0"/>
              <a:t> </a:t>
            </a:r>
            <a:r>
              <a:rPr sz="2600" dirty="0"/>
              <a:t>reads</a:t>
            </a:r>
            <a:r>
              <a:rPr sz="2600" spc="-60" dirty="0"/>
              <a:t> </a:t>
            </a:r>
            <a:r>
              <a:rPr sz="2600" dirty="0"/>
              <a:t>into</a:t>
            </a:r>
            <a:r>
              <a:rPr sz="2600" spc="-60" dirty="0"/>
              <a:t> </a:t>
            </a:r>
            <a:r>
              <a:rPr sz="2600" spc="-10" dirty="0"/>
              <a:t>longer </a:t>
            </a:r>
            <a:r>
              <a:rPr sz="2600" dirty="0"/>
              <a:t>sequences</a:t>
            </a:r>
            <a:r>
              <a:rPr sz="2600" spc="-50" dirty="0"/>
              <a:t> </a:t>
            </a:r>
            <a:r>
              <a:rPr sz="2600" dirty="0"/>
              <a:t>without</a:t>
            </a:r>
            <a:r>
              <a:rPr sz="2600" spc="-45" dirty="0"/>
              <a:t> </a:t>
            </a:r>
            <a:r>
              <a:rPr sz="2600" dirty="0"/>
              <a:t>a</a:t>
            </a:r>
            <a:r>
              <a:rPr sz="2600" spc="-45" dirty="0"/>
              <a:t> </a:t>
            </a:r>
            <a:r>
              <a:rPr sz="2600" spc="-20" dirty="0"/>
              <a:t>reference</a:t>
            </a:r>
            <a:r>
              <a:rPr sz="2600" spc="-55" dirty="0"/>
              <a:t> </a:t>
            </a:r>
            <a:r>
              <a:rPr sz="2600" spc="-10" dirty="0"/>
              <a:t>genome.</a:t>
            </a:r>
            <a:endParaRPr sz="2600">
              <a:latin typeface="Calibri"/>
              <a:cs typeface="Calibri"/>
            </a:endParaRPr>
          </a:p>
          <a:p>
            <a:pPr marL="240665" marR="1333500" indent="-228600">
              <a:lnSpc>
                <a:spcPts val="2500"/>
              </a:lnSpc>
              <a:spcBef>
                <a:spcPts val="1000"/>
              </a:spcBef>
              <a:buFont typeface="Arial MT"/>
              <a:buChar char="•"/>
              <a:tabLst>
                <a:tab pos="240665" algn="l"/>
              </a:tabLst>
            </a:pPr>
            <a:r>
              <a:rPr sz="2600" b="1" spc="-30" dirty="0">
                <a:latin typeface="Calibri"/>
                <a:cs typeface="Calibri"/>
              </a:rPr>
              <a:t>Reference-</a:t>
            </a:r>
            <a:r>
              <a:rPr sz="2600" b="1" dirty="0">
                <a:latin typeface="Calibri"/>
                <a:cs typeface="Calibri"/>
              </a:rPr>
              <a:t>based</a:t>
            </a:r>
            <a:r>
              <a:rPr sz="2600" b="1" spc="-40" dirty="0">
                <a:latin typeface="Calibri"/>
                <a:cs typeface="Calibri"/>
              </a:rPr>
              <a:t> </a:t>
            </a:r>
            <a:r>
              <a:rPr sz="2600" b="1" dirty="0">
                <a:latin typeface="Calibri"/>
                <a:cs typeface="Calibri"/>
              </a:rPr>
              <a:t>assembly</a:t>
            </a:r>
            <a:r>
              <a:rPr sz="2600" b="1" spc="-35" dirty="0">
                <a:latin typeface="Calibri"/>
                <a:cs typeface="Calibri"/>
              </a:rPr>
              <a:t> </a:t>
            </a:r>
            <a:r>
              <a:rPr sz="2600" dirty="0"/>
              <a:t>is</a:t>
            </a:r>
            <a:r>
              <a:rPr sz="2600" spc="-45" dirty="0"/>
              <a:t> </a:t>
            </a:r>
            <a:r>
              <a:rPr sz="2600" dirty="0"/>
              <a:t>a</a:t>
            </a:r>
            <a:r>
              <a:rPr sz="2600" spc="-35" dirty="0"/>
              <a:t> </a:t>
            </a:r>
            <a:r>
              <a:rPr sz="2600" dirty="0"/>
              <a:t>method</a:t>
            </a:r>
            <a:r>
              <a:rPr sz="2600" spc="-45" dirty="0"/>
              <a:t> </a:t>
            </a:r>
            <a:r>
              <a:rPr sz="2600" dirty="0"/>
              <a:t>of</a:t>
            </a:r>
            <a:r>
              <a:rPr sz="2600" spc="-45" dirty="0"/>
              <a:t> </a:t>
            </a:r>
            <a:r>
              <a:rPr sz="2600" dirty="0"/>
              <a:t>aligning</a:t>
            </a:r>
            <a:r>
              <a:rPr sz="2600" spc="-40" dirty="0"/>
              <a:t> </a:t>
            </a:r>
            <a:r>
              <a:rPr sz="2600" dirty="0"/>
              <a:t>short</a:t>
            </a:r>
            <a:r>
              <a:rPr sz="2600" spc="-40" dirty="0"/>
              <a:t> </a:t>
            </a:r>
            <a:r>
              <a:rPr sz="2600" dirty="0"/>
              <a:t>reads</a:t>
            </a:r>
            <a:r>
              <a:rPr sz="2600" spc="-45" dirty="0"/>
              <a:t> </a:t>
            </a:r>
            <a:r>
              <a:rPr sz="2600" dirty="0"/>
              <a:t>to</a:t>
            </a:r>
            <a:r>
              <a:rPr sz="2600" spc="-35" dirty="0"/>
              <a:t> </a:t>
            </a:r>
            <a:r>
              <a:rPr sz="2600" dirty="0"/>
              <a:t>a</a:t>
            </a:r>
            <a:r>
              <a:rPr sz="2600" spc="-40" dirty="0"/>
              <a:t> </a:t>
            </a:r>
            <a:r>
              <a:rPr sz="2600" spc="-10" dirty="0"/>
              <a:t>known </a:t>
            </a:r>
            <a:r>
              <a:rPr sz="2600" spc="-20" dirty="0"/>
              <a:t>reference</a:t>
            </a:r>
            <a:r>
              <a:rPr sz="2600" spc="-70" dirty="0"/>
              <a:t> </a:t>
            </a:r>
            <a:r>
              <a:rPr sz="2600" dirty="0"/>
              <a:t>genome</a:t>
            </a:r>
            <a:r>
              <a:rPr sz="2600" spc="-70" dirty="0"/>
              <a:t> </a:t>
            </a:r>
            <a:r>
              <a:rPr sz="2600" dirty="0"/>
              <a:t>to</a:t>
            </a:r>
            <a:r>
              <a:rPr sz="2600" spc="-60" dirty="0"/>
              <a:t> </a:t>
            </a:r>
            <a:r>
              <a:rPr sz="2600" dirty="0"/>
              <a:t>identify</a:t>
            </a:r>
            <a:r>
              <a:rPr sz="2600" spc="-65" dirty="0"/>
              <a:t> </a:t>
            </a:r>
            <a:r>
              <a:rPr sz="2600" dirty="0"/>
              <a:t>variations</a:t>
            </a:r>
            <a:r>
              <a:rPr sz="2600" spc="-65" dirty="0"/>
              <a:t> </a:t>
            </a:r>
            <a:r>
              <a:rPr sz="2600" dirty="0"/>
              <a:t>and</a:t>
            </a:r>
            <a:r>
              <a:rPr sz="2600" spc="-65" dirty="0"/>
              <a:t> </a:t>
            </a:r>
            <a:r>
              <a:rPr sz="2600" spc="-10" dirty="0"/>
              <a:t>generate</a:t>
            </a:r>
            <a:r>
              <a:rPr sz="2600" spc="-70" dirty="0"/>
              <a:t> </a:t>
            </a:r>
            <a:r>
              <a:rPr sz="2600" dirty="0"/>
              <a:t>a</a:t>
            </a:r>
            <a:r>
              <a:rPr sz="2600" spc="-60" dirty="0"/>
              <a:t> </a:t>
            </a:r>
            <a:r>
              <a:rPr sz="2600" dirty="0"/>
              <a:t>new</a:t>
            </a:r>
            <a:r>
              <a:rPr sz="2600" spc="-65" dirty="0"/>
              <a:t> </a:t>
            </a:r>
            <a:r>
              <a:rPr sz="2600" spc="-10" dirty="0"/>
              <a:t>assembly.</a:t>
            </a:r>
            <a:endParaRPr sz="2600">
              <a:latin typeface="Calibri"/>
              <a:cs typeface="Calibri"/>
            </a:endParaRPr>
          </a:p>
          <a:p>
            <a:pPr marL="240665" marR="5080" indent="-228600">
              <a:lnSpc>
                <a:spcPct val="78500"/>
              </a:lnSpc>
              <a:spcBef>
                <a:spcPts val="1070"/>
              </a:spcBef>
              <a:buFont typeface="Arial MT"/>
              <a:buChar char="•"/>
              <a:tabLst>
                <a:tab pos="240665" algn="l"/>
              </a:tabLst>
            </a:pPr>
            <a:r>
              <a:rPr sz="2600" b="1" spc="-20" dirty="0">
                <a:latin typeface="Calibri"/>
                <a:cs typeface="Calibri"/>
              </a:rPr>
              <a:t>De-</a:t>
            </a:r>
            <a:r>
              <a:rPr sz="2600" b="1" dirty="0">
                <a:latin typeface="Calibri"/>
                <a:cs typeface="Calibri"/>
              </a:rPr>
              <a:t>novo</a:t>
            </a:r>
            <a:r>
              <a:rPr sz="2600" b="1" spc="-55" dirty="0">
                <a:latin typeface="Calibri"/>
                <a:cs typeface="Calibri"/>
              </a:rPr>
              <a:t> </a:t>
            </a:r>
            <a:r>
              <a:rPr sz="2600" b="1" dirty="0">
                <a:latin typeface="Calibri"/>
                <a:cs typeface="Calibri"/>
              </a:rPr>
              <a:t>assembly</a:t>
            </a:r>
            <a:r>
              <a:rPr sz="2600" b="1" spc="-50" dirty="0">
                <a:latin typeface="Calibri"/>
                <a:cs typeface="Calibri"/>
              </a:rPr>
              <a:t> </a:t>
            </a:r>
            <a:r>
              <a:rPr sz="2600" dirty="0"/>
              <a:t>is</a:t>
            </a:r>
            <a:r>
              <a:rPr sz="2600" spc="-60" dirty="0"/>
              <a:t> </a:t>
            </a:r>
            <a:r>
              <a:rPr sz="2600" dirty="0"/>
              <a:t>more</a:t>
            </a:r>
            <a:r>
              <a:rPr sz="2600" spc="-65" dirty="0"/>
              <a:t> </a:t>
            </a:r>
            <a:r>
              <a:rPr sz="2600" dirty="0"/>
              <a:t>suitable</a:t>
            </a:r>
            <a:r>
              <a:rPr sz="2600" spc="-65" dirty="0"/>
              <a:t> </a:t>
            </a:r>
            <a:r>
              <a:rPr sz="2600" dirty="0"/>
              <a:t>for</a:t>
            </a:r>
            <a:r>
              <a:rPr sz="2600" spc="-50" dirty="0"/>
              <a:t> </a:t>
            </a:r>
            <a:r>
              <a:rPr sz="2600" b="1" spc="-20" dirty="0">
                <a:latin typeface="Calibri"/>
                <a:cs typeface="Calibri"/>
              </a:rPr>
              <a:t>non-</a:t>
            </a:r>
            <a:r>
              <a:rPr sz="2600" b="1" dirty="0">
                <a:latin typeface="Calibri"/>
                <a:cs typeface="Calibri"/>
              </a:rPr>
              <a:t>model</a:t>
            </a:r>
            <a:r>
              <a:rPr sz="2600" b="1" spc="-60" dirty="0">
                <a:latin typeface="Calibri"/>
                <a:cs typeface="Calibri"/>
              </a:rPr>
              <a:t> </a:t>
            </a:r>
            <a:r>
              <a:rPr sz="2600" b="1" spc="-10" dirty="0">
                <a:latin typeface="Calibri"/>
                <a:cs typeface="Calibri"/>
              </a:rPr>
              <a:t>organisms</a:t>
            </a:r>
            <a:r>
              <a:rPr sz="2600" b="1" spc="-55" dirty="0">
                <a:latin typeface="Calibri"/>
                <a:cs typeface="Calibri"/>
              </a:rPr>
              <a:t> </a:t>
            </a:r>
            <a:r>
              <a:rPr sz="2600" dirty="0"/>
              <a:t>and</a:t>
            </a:r>
            <a:r>
              <a:rPr sz="2600" spc="-55" dirty="0"/>
              <a:t> </a:t>
            </a:r>
            <a:r>
              <a:rPr sz="2600" dirty="0"/>
              <a:t>can</a:t>
            </a:r>
            <a:r>
              <a:rPr sz="2600" spc="-60" dirty="0"/>
              <a:t> </a:t>
            </a:r>
            <a:r>
              <a:rPr sz="2600" dirty="0"/>
              <a:t>identify</a:t>
            </a:r>
            <a:r>
              <a:rPr sz="2600" spc="-60" dirty="0"/>
              <a:t> </a:t>
            </a:r>
            <a:r>
              <a:rPr sz="2600" spc="-10" dirty="0"/>
              <a:t>novel </a:t>
            </a:r>
            <a:r>
              <a:rPr sz="2600" dirty="0"/>
              <a:t>sequences,</a:t>
            </a:r>
            <a:r>
              <a:rPr sz="2600" spc="-55" dirty="0"/>
              <a:t> </a:t>
            </a:r>
            <a:r>
              <a:rPr sz="2600" dirty="0"/>
              <a:t>while</a:t>
            </a:r>
            <a:r>
              <a:rPr sz="2600" spc="-65" dirty="0"/>
              <a:t> </a:t>
            </a:r>
            <a:r>
              <a:rPr sz="2600" b="1" spc="-30" dirty="0">
                <a:latin typeface="Calibri"/>
                <a:cs typeface="Calibri"/>
              </a:rPr>
              <a:t>reference-</a:t>
            </a:r>
            <a:r>
              <a:rPr sz="2600" b="1" dirty="0">
                <a:latin typeface="Calibri"/>
                <a:cs typeface="Calibri"/>
              </a:rPr>
              <a:t>based</a:t>
            </a:r>
            <a:r>
              <a:rPr sz="2600" b="1" spc="-55" dirty="0">
                <a:latin typeface="Calibri"/>
                <a:cs typeface="Calibri"/>
              </a:rPr>
              <a:t> </a:t>
            </a:r>
            <a:r>
              <a:rPr sz="2600" b="1" dirty="0">
                <a:latin typeface="Calibri"/>
                <a:cs typeface="Calibri"/>
              </a:rPr>
              <a:t>assembly</a:t>
            </a:r>
            <a:r>
              <a:rPr sz="2600" b="1" spc="-50" dirty="0">
                <a:latin typeface="Calibri"/>
                <a:cs typeface="Calibri"/>
              </a:rPr>
              <a:t> </a:t>
            </a:r>
            <a:r>
              <a:rPr sz="2600" dirty="0"/>
              <a:t>is</a:t>
            </a:r>
            <a:r>
              <a:rPr sz="2600" spc="-60" dirty="0"/>
              <a:t> </a:t>
            </a:r>
            <a:r>
              <a:rPr sz="2600" dirty="0"/>
              <a:t>more</a:t>
            </a:r>
            <a:r>
              <a:rPr sz="2600" spc="-65" dirty="0"/>
              <a:t> </a:t>
            </a:r>
            <a:r>
              <a:rPr sz="2600" dirty="0"/>
              <a:t>suitable</a:t>
            </a:r>
            <a:r>
              <a:rPr sz="2600" spc="-65" dirty="0"/>
              <a:t> </a:t>
            </a:r>
            <a:r>
              <a:rPr sz="2600" dirty="0"/>
              <a:t>for</a:t>
            </a:r>
            <a:r>
              <a:rPr sz="2600" spc="-50" dirty="0"/>
              <a:t> </a:t>
            </a:r>
            <a:r>
              <a:rPr sz="2600" b="1" dirty="0">
                <a:latin typeface="Calibri"/>
                <a:cs typeface="Calibri"/>
              </a:rPr>
              <a:t>closely</a:t>
            </a:r>
            <a:r>
              <a:rPr sz="2600" b="1" spc="-50" dirty="0">
                <a:latin typeface="Calibri"/>
                <a:cs typeface="Calibri"/>
              </a:rPr>
              <a:t> </a:t>
            </a:r>
            <a:r>
              <a:rPr sz="2600" b="1" spc="-10" dirty="0">
                <a:latin typeface="Calibri"/>
                <a:cs typeface="Calibri"/>
              </a:rPr>
              <a:t>related organisms</a:t>
            </a:r>
            <a:r>
              <a:rPr sz="2600" b="1" spc="-60" dirty="0">
                <a:latin typeface="Calibri"/>
                <a:cs typeface="Calibri"/>
              </a:rPr>
              <a:t> </a:t>
            </a:r>
            <a:r>
              <a:rPr sz="2600" dirty="0"/>
              <a:t>and</a:t>
            </a:r>
            <a:r>
              <a:rPr sz="2600" spc="-60" dirty="0"/>
              <a:t> </a:t>
            </a:r>
            <a:r>
              <a:rPr sz="2600" dirty="0"/>
              <a:t>can</a:t>
            </a:r>
            <a:r>
              <a:rPr sz="2600" spc="-65" dirty="0"/>
              <a:t> </a:t>
            </a:r>
            <a:r>
              <a:rPr sz="2600" dirty="0"/>
              <a:t>identify</a:t>
            </a:r>
            <a:r>
              <a:rPr sz="2600" spc="-60" dirty="0"/>
              <a:t> </a:t>
            </a:r>
            <a:r>
              <a:rPr sz="2600" dirty="0"/>
              <a:t>variations</a:t>
            </a:r>
            <a:r>
              <a:rPr sz="2600" spc="-65" dirty="0"/>
              <a:t> </a:t>
            </a:r>
            <a:r>
              <a:rPr sz="2600" dirty="0"/>
              <a:t>from</a:t>
            </a:r>
            <a:r>
              <a:rPr sz="2600" spc="-60" dirty="0"/>
              <a:t> </a:t>
            </a:r>
            <a:r>
              <a:rPr sz="2600" dirty="0"/>
              <a:t>a</a:t>
            </a:r>
            <a:r>
              <a:rPr sz="2600" spc="-60" dirty="0"/>
              <a:t> </a:t>
            </a:r>
            <a:r>
              <a:rPr sz="2600" dirty="0"/>
              <a:t>known</a:t>
            </a:r>
            <a:r>
              <a:rPr sz="2600" spc="-60" dirty="0"/>
              <a:t> </a:t>
            </a:r>
            <a:r>
              <a:rPr sz="2600" spc="-20" dirty="0"/>
              <a:t>reference</a:t>
            </a:r>
            <a:r>
              <a:rPr sz="2600" spc="-65" dirty="0"/>
              <a:t> </a:t>
            </a:r>
            <a:r>
              <a:rPr sz="2600" spc="-10" dirty="0"/>
              <a:t>genome.</a:t>
            </a:r>
            <a:endParaRPr sz="2600">
              <a:latin typeface="Calibri"/>
              <a:cs typeface="Calibri"/>
            </a:endParaRPr>
          </a:p>
          <a:p>
            <a:pPr marL="240665" marR="243204" indent="-228600">
              <a:lnSpc>
                <a:spcPct val="80400"/>
              </a:lnSpc>
              <a:spcBef>
                <a:spcPts val="994"/>
              </a:spcBef>
              <a:buFont typeface="Arial MT"/>
              <a:buChar char="•"/>
              <a:tabLst>
                <a:tab pos="240665" algn="l"/>
              </a:tabLst>
            </a:pPr>
            <a:r>
              <a:rPr sz="2600" spc="-10" dirty="0"/>
              <a:t>De-</a:t>
            </a:r>
            <a:r>
              <a:rPr sz="2600" dirty="0"/>
              <a:t>novo</a:t>
            </a:r>
            <a:r>
              <a:rPr sz="2600" spc="-60" dirty="0"/>
              <a:t> </a:t>
            </a:r>
            <a:r>
              <a:rPr sz="2600" dirty="0"/>
              <a:t>assembly</a:t>
            </a:r>
            <a:r>
              <a:rPr sz="2600" spc="-60" dirty="0"/>
              <a:t> </a:t>
            </a:r>
            <a:r>
              <a:rPr sz="2600" dirty="0"/>
              <a:t>can</a:t>
            </a:r>
            <a:r>
              <a:rPr sz="2600" spc="-65" dirty="0"/>
              <a:t> </a:t>
            </a:r>
            <a:r>
              <a:rPr sz="2600" dirty="0"/>
              <a:t>be</a:t>
            </a:r>
            <a:r>
              <a:rPr sz="2600" spc="-65" dirty="0"/>
              <a:t> </a:t>
            </a:r>
            <a:r>
              <a:rPr sz="2600" b="1" spc="-10" dirty="0">
                <a:latin typeface="Calibri"/>
                <a:cs typeface="Calibri"/>
              </a:rPr>
              <a:t>computationally</a:t>
            </a:r>
            <a:r>
              <a:rPr sz="2600" b="1" spc="-50" dirty="0">
                <a:latin typeface="Calibri"/>
                <a:cs typeface="Calibri"/>
              </a:rPr>
              <a:t> </a:t>
            </a:r>
            <a:r>
              <a:rPr sz="2600" b="1" spc="-10" dirty="0">
                <a:latin typeface="Calibri"/>
                <a:cs typeface="Calibri"/>
              </a:rPr>
              <a:t>intensive</a:t>
            </a:r>
            <a:r>
              <a:rPr sz="2600" b="1" spc="-60" dirty="0">
                <a:latin typeface="Calibri"/>
                <a:cs typeface="Calibri"/>
              </a:rPr>
              <a:t> </a:t>
            </a:r>
            <a:r>
              <a:rPr sz="2600" dirty="0"/>
              <a:t>and</a:t>
            </a:r>
            <a:r>
              <a:rPr sz="2600" spc="-60" dirty="0"/>
              <a:t> </a:t>
            </a:r>
            <a:r>
              <a:rPr sz="2600" dirty="0"/>
              <a:t>require</a:t>
            </a:r>
            <a:r>
              <a:rPr sz="2600" spc="-70" dirty="0"/>
              <a:t> </a:t>
            </a:r>
            <a:r>
              <a:rPr sz="2600" dirty="0"/>
              <a:t>large</a:t>
            </a:r>
            <a:r>
              <a:rPr sz="2600" spc="-65" dirty="0"/>
              <a:t> </a:t>
            </a:r>
            <a:r>
              <a:rPr sz="2600" dirty="0"/>
              <a:t>amounts</a:t>
            </a:r>
            <a:r>
              <a:rPr sz="2600" spc="-60" dirty="0"/>
              <a:t> </a:t>
            </a:r>
            <a:r>
              <a:rPr sz="2600" spc="-25" dirty="0"/>
              <a:t>of </a:t>
            </a:r>
            <a:r>
              <a:rPr sz="2600" dirty="0"/>
              <a:t>computing</a:t>
            </a:r>
            <a:r>
              <a:rPr sz="2600" spc="-45" dirty="0"/>
              <a:t> </a:t>
            </a:r>
            <a:r>
              <a:rPr sz="2600" spc="-35" dirty="0"/>
              <a:t>power,</a:t>
            </a:r>
            <a:r>
              <a:rPr sz="2600" spc="-40" dirty="0"/>
              <a:t> </a:t>
            </a:r>
            <a:r>
              <a:rPr sz="2600" dirty="0"/>
              <a:t>while</a:t>
            </a:r>
            <a:r>
              <a:rPr sz="2600" spc="-50" dirty="0"/>
              <a:t> </a:t>
            </a:r>
            <a:r>
              <a:rPr sz="2600" spc="-30" dirty="0"/>
              <a:t>reference-</a:t>
            </a:r>
            <a:r>
              <a:rPr sz="2600" dirty="0"/>
              <a:t>based</a:t>
            </a:r>
            <a:r>
              <a:rPr sz="2600" spc="-45" dirty="0"/>
              <a:t> </a:t>
            </a:r>
            <a:r>
              <a:rPr sz="2600" dirty="0"/>
              <a:t>assembly</a:t>
            </a:r>
            <a:r>
              <a:rPr sz="2600" spc="-50" dirty="0"/>
              <a:t> </a:t>
            </a:r>
            <a:r>
              <a:rPr sz="2600" dirty="0"/>
              <a:t>can</a:t>
            </a:r>
            <a:r>
              <a:rPr sz="2600" spc="-45" dirty="0"/>
              <a:t> </a:t>
            </a:r>
            <a:r>
              <a:rPr sz="2600" dirty="0"/>
              <a:t>be</a:t>
            </a:r>
            <a:r>
              <a:rPr sz="2600" spc="-50" dirty="0"/>
              <a:t> </a:t>
            </a:r>
            <a:r>
              <a:rPr sz="2600" dirty="0"/>
              <a:t>less</a:t>
            </a:r>
            <a:r>
              <a:rPr sz="2600" spc="-45" dirty="0"/>
              <a:t> </a:t>
            </a:r>
            <a:r>
              <a:rPr sz="2600" spc="-10" dirty="0"/>
              <a:t>computationally </a:t>
            </a:r>
            <a:r>
              <a:rPr sz="2600" dirty="0"/>
              <a:t>intensive</a:t>
            </a:r>
            <a:r>
              <a:rPr sz="2600" spc="-85" dirty="0"/>
              <a:t> </a:t>
            </a:r>
            <a:r>
              <a:rPr sz="2600" dirty="0"/>
              <a:t>and</a:t>
            </a:r>
            <a:r>
              <a:rPr sz="2600" spc="-80" dirty="0"/>
              <a:t> </a:t>
            </a:r>
            <a:r>
              <a:rPr sz="2600" dirty="0"/>
              <a:t>require</a:t>
            </a:r>
            <a:r>
              <a:rPr sz="2600" spc="-85" dirty="0"/>
              <a:t> </a:t>
            </a:r>
            <a:r>
              <a:rPr sz="2600" dirty="0"/>
              <a:t>less</a:t>
            </a:r>
            <a:r>
              <a:rPr sz="2600" spc="-80" dirty="0"/>
              <a:t> </a:t>
            </a:r>
            <a:r>
              <a:rPr sz="2600" dirty="0"/>
              <a:t>computing</a:t>
            </a:r>
            <a:r>
              <a:rPr sz="2600" spc="-75" dirty="0"/>
              <a:t> </a:t>
            </a:r>
            <a:r>
              <a:rPr sz="2600" spc="-10" dirty="0"/>
              <a:t>power.</a:t>
            </a:r>
            <a:endParaRPr sz="2600">
              <a:latin typeface="Calibri"/>
              <a:cs typeface="Calibri"/>
            </a:endParaRPr>
          </a:p>
          <a:p>
            <a:pPr marL="240665" marR="118745" indent="-228600">
              <a:lnSpc>
                <a:spcPct val="80400"/>
              </a:lnSpc>
              <a:spcBef>
                <a:spcPts val="969"/>
              </a:spcBef>
              <a:buFont typeface="Arial MT"/>
              <a:buChar char="•"/>
              <a:tabLst>
                <a:tab pos="240665" algn="l"/>
              </a:tabLst>
            </a:pPr>
            <a:r>
              <a:rPr sz="2600" dirty="0"/>
              <a:t>Both</a:t>
            </a:r>
            <a:r>
              <a:rPr sz="2600" spc="-50" dirty="0"/>
              <a:t> </a:t>
            </a:r>
            <a:r>
              <a:rPr sz="2600" spc="-10" dirty="0"/>
              <a:t>de-</a:t>
            </a:r>
            <a:r>
              <a:rPr sz="2600" dirty="0"/>
              <a:t>novo</a:t>
            </a:r>
            <a:r>
              <a:rPr sz="2600" spc="-45" dirty="0"/>
              <a:t> </a:t>
            </a:r>
            <a:r>
              <a:rPr sz="2600" dirty="0"/>
              <a:t>and</a:t>
            </a:r>
            <a:r>
              <a:rPr sz="2600" spc="-45" dirty="0"/>
              <a:t> </a:t>
            </a:r>
            <a:r>
              <a:rPr sz="2600" spc="-30" dirty="0"/>
              <a:t>reference-</a:t>
            </a:r>
            <a:r>
              <a:rPr sz="2600" dirty="0"/>
              <a:t>based</a:t>
            </a:r>
            <a:r>
              <a:rPr sz="2600" spc="-50" dirty="0"/>
              <a:t> </a:t>
            </a:r>
            <a:r>
              <a:rPr sz="2600" dirty="0"/>
              <a:t>assembly</a:t>
            </a:r>
            <a:r>
              <a:rPr sz="2600" spc="-50" dirty="0"/>
              <a:t> </a:t>
            </a:r>
            <a:r>
              <a:rPr sz="2600" dirty="0"/>
              <a:t>have</a:t>
            </a:r>
            <a:r>
              <a:rPr sz="2600" spc="-50" dirty="0"/>
              <a:t> </a:t>
            </a:r>
            <a:r>
              <a:rPr sz="2600" dirty="0"/>
              <a:t>their</a:t>
            </a:r>
            <a:r>
              <a:rPr sz="2600" spc="-40" dirty="0"/>
              <a:t> </a:t>
            </a:r>
            <a:r>
              <a:rPr sz="2600" b="1" spc="-10" dirty="0">
                <a:latin typeface="Calibri"/>
                <a:cs typeface="Calibri"/>
              </a:rPr>
              <a:t>strengths</a:t>
            </a:r>
            <a:r>
              <a:rPr sz="2600" b="1" spc="-40" dirty="0">
                <a:latin typeface="Calibri"/>
                <a:cs typeface="Calibri"/>
              </a:rPr>
              <a:t> </a:t>
            </a:r>
            <a:r>
              <a:rPr sz="2600" b="1" dirty="0">
                <a:latin typeface="Calibri"/>
                <a:cs typeface="Calibri"/>
              </a:rPr>
              <a:t>and</a:t>
            </a:r>
            <a:r>
              <a:rPr sz="2600" b="1" spc="-45" dirty="0">
                <a:latin typeface="Calibri"/>
                <a:cs typeface="Calibri"/>
              </a:rPr>
              <a:t> </a:t>
            </a:r>
            <a:r>
              <a:rPr sz="2600" b="1" spc="-10" dirty="0">
                <a:latin typeface="Calibri"/>
                <a:cs typeface="Calibri"/>
              </a:rPr>
              <a:t>weaknesses</a:t>
            </a:r>
            <a:r>
              <a:rPr sz="2600" spc="-10" dirty="0"/>
              <a:t>, </a:t>
            </a:r>
            <a:r>
              <a:rPr sz="2600" dirty="0"/>
              <a:t>and</a:t>
            </a:r>
            <a:r>
              <a:rPr sz="2600" spc="-45" dirty="0"/>
              <a:t> </a:t>
            </a:r>
            <a:r>
              <a:rPr sz="2600" dirty="0"/>
              <a:t>the</a:t>
            </a:r>
            <a:r>
              <a:rPr sz="2600" spc="-50" dirty="0"/>
              <a:t> </a:t>
            </a:r>
            <a:r>
              <a:rPr sz="2600" dirty="0"/>
              <a:t>choice</a:t>
            </a:r>
            <a:r>
              <a:rPr sz="2600" spc="-50" dirty="0"/>
              <a:t> </a:t>
            </a:r>
            <a:r>
              <a:rPr sz="2600" dirty="0"/>
              <a:t>of</a:t>
            </a:r>
            <a:r>
              <a:rPr sz="2600" spc="-50" dirty="0"/>
              <a:t> </a:t>
            </a:r>
            <a:r>
              <a:rPr sz="2600" dirty="0"/>
              <a:t>method</a:t>
            </a:r>
            <a:r>
              <a:rPr sz="2600" spc="-45" dirty="0"/>
              <a:t> </a:t>
            </a:r>
            <a:r>
              <a:rPr sz="2600" dirty="0"/>
              <a:t>depends</a:t>
            </a:r>
            <a:r>
              <a:rPr sz="2600" spc="-45" dirty="0"/>
              <a:t> </a:t>
            </a:r>
            <a:r>
              <a:rPr sz="2600" dirty="0"/>
              <a:t>on</a:t>
            </a:r>
            <a:r>
              <a:rPr sz="2600" spc="-45" dirty="0"/>
              <a:t> </a:t>
            </a:r>
            <a:r>
              <a:rPr sz="2600" dirty="0"/>
              <a:t>the</a:t>
            </a:r>
            <a:r>
              <a:rPr sz="2600" spc="-45" dirty="0"/>
              <a:t> </a:t>
            </a:r>
            <a:r>
              <a:rPr sz="2600" b="1" spc="-10" dirty="0">
                <a:latin typeface="Calibri"/>
                <a:cs typeface="Calibri"/>
              </a:rPr>
              <a:t>research</a:t>
            </a:r>
            <a:r>
              <a:rPr sz="2600" b="1" spc="-40" dirty="0">
                <a:latin typeface="Calibri"/>
                <a:cs typeface="Calibri"/>
              </a:rPr>
              <a:t> </a:t>
            </a:r>
            <a:r>
              <a:rPr sz="2600" b="1" dirty="0">
                <a:latin typeface="Calibri"/>
                <a:cs typeface="Calibri"/>
              </a:rPr>
              <a:t>question</a:t>
            </a:r>
            <a:r>
              <a:rPr sz="2600" dirty="0"/>
              <a:t>,</a:t>
            </a:r>
            <a:r>
              <a:rPr sz="2600" spc="-40" dirty="0"/>
              <a:t> </a:t>
            </a:r>
            <a:r>
              <a:rPr sz="2600" dirty="0"/>
              <a:t>the</a:t>
            </a:r>
            <a:r>
              <a:rPr sz="2600" spc="-50" dirty="0"/>
              <a:t> </a:t>
            </a:r>
            <a:r>
              <a:rPr sz="2600" b="1" spc="-10" dirty="0">
                <a:latin typeface="Calibri"/>
                <a:cs typeface="Calibri"/>
              </a:rPr>
              <a:t>available resources</a:t>
            </a:r>
            <a:r>
              <a:rPr sz="2600" spc="-10" dirty="0"/>
              <a:t>,</a:t>
            </a:r>
            <a:r>
              <a:rPr sz="2600" spc="-50" dirty="0"/>
              <a:t> </a:t>
            </a:r>
            <a:r>
              <a:rPr sz="2600" dirty="0"/>
              <a:t>and</a:t>
            </a:r>
            <a:r>
              <a:rPr sz="2600" spc="-50" dirty="0"/>
              <a:t> </a:t>
            </a:r>
            <a:r>
              <a:rPr sz="2600" dirty="0"/>
              <a:t>the</a:t>
            </a:r>
            <a:r>
              <a:rPr sz="2600" spc="-55" dirty="0"/>
              <a:t> </a:t>
            </a:r>
            <a:r>
              <a:rPr sz="2600" b="1" spc="-10" dirty="0">
                <a:latin typeface="Calibri"/>
                <a:cs typeface="Calibri"/>
              </a:rPr>
              <a:t>characteristics</a:t>
            </a:r>
            <a:r>
              <a:rPr sz="2600" b="1" spc="-45" dirty="0">
                <a:latin typeface="Calibri"/>
                <a:cs typeface="Calibri"/>
              </a:rPr>
              <a:t> </a:t>
            </a:r>
            <a:r>
              <a:rPr sz="2600" b="1" dirty="0">
                <a:latin typeface="Calibri"/>
                <a:cs typeface="Calibri"/>
              </a:rPr>
              <a:t>of</a:t>
            </a:r>
            <a:r>
              <a:rPr sz="2600" b="1" spc="-45" dirty="0">
                <a:latin typeface="Calibri"/>
                <a:cs typeface="Calibri"/>
              </a:rPr>
              <a:t> </a:t>
            </a:r>
            <a:r>
              <a:rPr sz="2600" b="1" dirty="0">
                <a:latin typeface="Calibri"/>
                <a:cs typeface="Calibri"/>
              </a:rPr>
              <a:t>the</a:t>
            </a:r>
            <a:r>
              <a:rPr sz="2600" b="1" spc="-45" dirty="0">
                <a:latin typeface="Calibri"/>
                <a:cs typeface="Calibri"/>
              </a:rPr>
              <a:t> </a:t>
            </a:r>
            <a:r>
              <a:rPr sz="2600" b="1" spc="-10" dirty="0">
                <a:latin typeface="Calibri"/>
                <a:cs typeface="Calibri"/>
              </a:rPr>
              <a:t>organism</a:t>
            </a:r>
            <a:r>
              <a:rPr sz="2600" b="1" spc="-50" dirty="0">
                <a:latin typeface="Calibri"/>
                <a:cs typeface="Calibri"/>
              </a:rPr>
              <a:t> </a:t>
            </a:r>
            <a:r>
              <a:rPr sz="2600" dirty="0"/>
              <a:t>being</a:t>
            </a:r>
            <a:r>
              <a:rPr sz="2600" spc="-45" dirty="0"/>
              <a:t> </a:t>
            </a:r>
            <a:r>
              <a:rPr sz="2600" spc="-10" dirty="0"/>
              <a:t>studied.</a:t>
            </a:r>
            <a:endParaRPr sz="2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3258" y="268384"/>
            <a:ext cx="7510780" cy="68326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/>
              <a:t>Overview</a:t>
            </a:r>
            <a:r>
              <a:rPr spc="245" dirty="0"/>
              <a:t> </a:t>
            </a:r>
            <a:r>
              <a:rPr dirty="0"/>
              <a:t>of</a:t>
            </a:r>
            <a:r>
              <a:rPr spc="240" dirty="0"/>
              <a:t> </a:t>
            </a:r>
            <a:r>
              <a:rPr dirty="0"/>
              <a:t>some</a:t>
            </a:r>
            <a:r>
              <a:rPr spc="235" dirty="0"/>
              <a:t> </a:t>
            </a:r>
            <a:r>
              <a:rPr dirty="0"/>
              <a:t>assembly</a:t>
            </a:r>
            <a:r>
              <a:rPr spc="240" dirty="0"/>
              <a:t> </a:t>
            </a:r>
            <a:r>
              <a:rPr spc="-10" dirty="0"/>
              <a:t>tools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52008" y="1287780"/>
            <a:ext cx="11266170" cy="5298440"/>
          </a:xfrm>
          <a:prstGeom prst="rect">
            <a:avLst/>
          </a:prstGeom>
        </p:spPr>
        <p:txBody>
          <a:bodyPr vert="horz" wrap="square" lIns="0" tIns="91440" rIns="0" bIns="0" rtlCol="0">
            <a:spAutoFit/>
          </a:bodyPr>
          <a:lstStyle/>
          <a:p>
            <a:pPr marL="240665" marR="5080" indent="-228600">
              <a:lnSpc>
                <a:spcPct val="80000"/>
              </a:lnSpc>
              <a:spcBef>
                <a:spcPts val="720"/>
              </a:spcBef>
              <a:buFont typeface="Arial MT"/>
              <a:buChar char="•"/>
              <a:tabLst>
                <a:tab pos="240665" algn="l"/>
              </a:tabLst>
            </a:pPr>
            <a:r>
              <a:rPr sz="2600" b="1" spc="-20" dirty="0">
                <a:latin typeface="Calibri"/>
                <a:cs typeface="Calibri"/>
              </a:rPr>
              <a:t>SPAdes:</a:t>
            </a:r>
            <a:r>
              <a:rPr sz="2600" b="1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popular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b="1" dirty="0">
                <a:latin typeface="Calibri"/>
                <a:cs typeface="Calibri"/>
              </a:rPr>
              <a:t>de</a:t>
            </a:r>
            <a:r>
              <a:rPr sz="2600" b="1" spc="-50" dirty="0">
                <a:latin typeface="Calibri"/>
                <a:cs typeface="Calibri"/>
              </a:rPr>
              <a:t> </a:t>
            </a:r>
            <a:r>
              <a:rPr sz="2600" b="1" dirty="0">
                <a:latin typeface="Calibri"/>
                <a:cs typeface="Calibri"/>
              </a:rPr>
              <a:t>novo</a:t>
            </a:r>
            <a:r>
              <a:rPr sz="2600" b="1" spc="-55" dirty="0">
                <a:latin typeface="Calibri"/>
                <a:cs typeface="Calibri"/>
              </a:rPr>
              <a:t> </a:t>
            </a:r>
            <a:r>
              <a:rPr sz="2600" b="1" dirty="0">
                <a:latin typeface="Calibri"/>
                <a:cs typeface="Calibri"/>
              </a:rPr>
              <a:t>assembler</a:t>
            </a:r>
            <a:r>
              <a:rPr sz="2600" b="1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that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can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handle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wide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range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of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sequencing </a:t>
            </a:r>
            <a:r>
              <a:rPr sz="2600" dirty="0">
                <a:latin typeface="Calibri"/>
                <a:cs typeface="Calibri"/>
              </a:rPr>
              <a:t>data,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including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Illumina,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PacBio,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and</a:t>
            </a:r>
            <a:r>
              <a:rPr sz="2600" spc="-8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Oxford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Nanopore.</a:t>
            </a:r>
            <a:endParaRPr sz="2600">
              <a:latin typeface="Calibri"/>
              <a:cs typeface="Calibri"/>
            </a:endParaRPr>
          </a:p>
          <a:p>
            <a:pPr marL="240665" marR="257175" indent="-228600">
              <a:lnSpc>
                <a:spcPct val="80000"/>
              </a:lnSpc>
              <a:spcBef>
                <a:spcPts val="1010"/>
              </a:spcBef>
              <a:buFont typeface="Arial MT"/>
              <a:buChar char="•"/>
              <a:tabLst>
                <a:tab pos="240665" algn="l"/>
              </a:tabLst>
            </a:pPr>
            <a:r>
              <a:rPr sz="2600" b="1" dirty="0">
                <a:latin typeface="Calibri"/>
                <a:cs typeface="Calibri"/>
              </a:rPr>
              <a:t>ABySS:</a:t>
            </a:r>
            <a:r>
              <a:rPr sz="2600" b="1" spc="-7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Another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popular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de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novo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assembler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that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is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particularly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effective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for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large </a:t>
            </a:r>
            <a:r>
              <a:rPr sz="2600" dirty="0">
                <a:latin typeface="Calibri"/>
                <a:cs typeface="Calibri"/>
              </a:rPr>
              <a:t>and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complex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genomes.</a:t>
            </a:r>
            <a:endParaRPr sz="2600">
              <a:latin typeface="Calibri"/>
              <a:cs typeface="Calibri"/>
            </a:endParaRPr>
          </a:p>
          <a:p>
            <a:pPr marL="240665" marR="142875" indent="-228600">
              <a:lnSpc>
                <a:spcPct val="80000"/>
              </a:lnSpc>
              <a:spcBef>
                <a:spcPts val="1010"/>
              </a:spcBef>
              <a:buFont typeface="Arial MT"/>
              <a:buChar char="•"/>
              <a:tabLst>
                <a:tab pos="240665" algn="l"/>
              </a:tabLst>
            </a:pPr>
            <a:r>
              <a:rPr sz="2600" b="1" spc="-25" dirty="0">
                <a:latin typeface="Calibri"/>
                <a:cs typeface="Calibri"/>
              </a:rPr>
              <a:t>IDBA-</a:t>
            </a:r>
            <a:r>
              <a:rPr sz="2600" b="1" dirty="0">
                <a:latin typeface="Calibri"/>
                <a:cs typeface="Calibri"/>
              </a:rPr>
              <a:t>UD:</a:t>
            </a:r>
            <a:r>
              <a:rPr sz="2600" b="1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de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novo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assembler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that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uses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iterative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de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Bruijn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graph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construction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spc="-25" dirty="0">
                <a:latin typeface="Calibri"/>
                <a:cs typeface="Calibri"/>
              </a:rPr>
              <a:t>to </a:t>
            </a:r>
            <a:r>
              <a:rPr sz="2600" dirty="0">
                <a:latin typeface="Calibri"/>
                <a:cs typeface="Calibri"/>
              </a:rPr>
              <a:t>handle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uneven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sequencing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depth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and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errors.</a:t>
            </a:r>
            <a:endParaRPr sz="26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285"/>
              </a:spcBef>
              <a:buFont typeface="Arial MT"/>
              <a:buChar char="•"/>
              <a:tabLst>
                <a:tab pos="241300" algn="l"/>
              </a:tabLst>
            </a:pPr>
            <a:r>
              <a:rPr sz="2600" dirty="0">
                <a:latin typeface="Calibri"/>
                <a:cs typeface="Calibri"/>
              </a:rPr>
              <a:t>Other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popular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de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novo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assemblers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include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Velvet,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SOAPdenovo,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and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Canu.</a:t>
            </a:r>
            <a:endParaRPr sz="2600">
              <a:latin typeface="Calibri"/>
              <a:cs typeface="Calibri"/>
            </a:endParaRPr>
          </a:p>
          <a:p>
            <a:pPr marL="240665" marR="632460" indent="-228600">
              <a:lnSpc>
                <a:spcPts val="2500"/>
              </a:lnSpc>
              <a:spcBef>
                <a:spcPts val="985"/>
              </a:spcBef>
              <a:buFont typeface="Arial MT"/>
              <a:buChar char="•"/>
              <a:tabLst>
                <a:tab pos="240665" algn="l"/>
              </a:tabLst>
            </a:pPr>
            <a:r>
              <a:rPr sz="2600" b="1" spc="-30" dirty="0">
                <a:latin typeface="Calibri"/>
                <a:cs typeface="Calibri"/>
              </a:rPr>
              <a:t>Reference-</a:t>
            </a:r>
            <a:r>
              <a:rPr sz="2600" b="1" dirty="0">
                <a:latin typeface="Calibri"/>
                <a:cs typeface="Calibri"/>
              </a:rPr>
              <a:t>based</a:t>
            </a:r>
            <a:r>
              <a:rPr sz="2600" b="1" spc="-25" dirty="0">
                <a:latin typeface="Calibri"/>
                <a:cs typeface="Calibri"/>
              </a:rPr>
              <a:t> </a:t>
            </a:r>
            <a:r>
              <a:rPr sz="2600" b="1" spc="-10" dirty="0">
                <a:latin typeface="Calibri"/>
                <a:cs typeface="Calibri"/>
              </a:rPr>
              <a:t>assemblers</a:t>
            </a:r>
            <a:r>
              <a:rPr sz="2600" spc="-10" dirty="0">
                <a:latin typeface="Calibri"/>
                <a:cs typeface="Calibri"/>
              </a:rPr>
              <a:t>,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such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as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spc="-55" dirty="0">
                <a:latin typeface="Calibri"/>
                <a:cs typeface="Calibri"/>
              </a:rPr>
              <a:t>BWA-</a:t>
            </a:r>
            <a:r>
              <a:rPr sz="2600" dirty="0">
                <a:latin typeface="Calibri"/>
                <a:cs typeface="Calibri"/>
              </a:rPr>
              <a:t>MEM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and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Bowtie,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use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reference </a:t>
            </a:r>
            <a:r>
              <a:rPr sz="2600" dirty="0">
                <a:latin typeface="Calibri"/>
                <a:cs typeface="Calibri"/>
              </a:rPr>
              <a:t>genome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to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align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and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assemble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sequencing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reads.</a:t>
            </a:r>
            <a:endParaRPr sz="2600">
              <a:latin typeface="Calibri"/>
              <a:cs typeface="Calibri"/>
            </a:endParaRPr>
          </a:p>
          <a:p>
            <a:pPr marL="240665" marR="405765" indent="-228600">
              <a:lnSpc>
                <a:spcPts val="2500"/>
              </a:lnSpc>
              <a:spcBef>
                <a:spcPts val="1000"/>
              </a:spcBef>
              <a:buFont typeface="Arial MT"/>
              <a:buChar char="•"/>
              <a:tabLst>
                <a:tab pos="240665" algn="l"/>
              </a:tabLst>
            </a:pPr>
            <a:r>
              <a:rPr sz="2600" b="1" dirty="0">
                <a:latin typeface="Calibri"/>
                <a:cs typeface="Calibri"/>
              </a:rPr>
              <a:t>Hybrid</a:t>
            </a:r>
            <a:r>
              <a:rPr sz="2600" b="1" spc="-60" dirty="0">
                <a:latin typeface="Calibri"/>
                <a:cs typeface="Calibri"/>
              </a:rPr>
              <a:t> </a:t>
            </a:r>
            <a:r>
              <a:rPr sz="2600" b="1" spc="-10" dirty="0">
                <a:latin typeface="Calibri"/>
                <a:cs typeface="Calibri"/>
              </a:rPr>
              <a:t>assemblers,</a:t>
            </a:r>
            <a:r>
              <a:rPr sz="2600" b="1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such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as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SPAdes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hybrid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and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DBG2OLC,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combine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de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novo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spc="-25" dirty="0">
                <a:latin typeface="Calibri"/>
                <a:cs typeface="Calibri"/>
              </a:rPr>
              <a:t>and </a:t>
            </a:r>
            <a:r>
              <a:rPr sz="2600" spc="-30" dirty="0">
                <a:latin typeface="Calibri"/>
                <a:cs typeface="Calibri"/>
              </a:rPr>
              <a:t>reference-</a:t>
            </a:r>
            <a:r>
              <a:rPr sz="2600" dirty="0">
                <a:latin typeface="Calibri"/>
                <a:cs typeface="Calibri"/>
              </a:rPr>
              <a:t>based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approaches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to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improve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assembly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accuracy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and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completeness.</a:t>
            </a:r>
            <a:endParaRPr sz="2600">
              <a:latin typeface="Calibri"/>
              <a:cs typeface="Calibri"/>
            </a:endParaRPr>
          </a:p>
          <a:p>
            <a:pPr marL="240665" marR="186055" indent="-228600">
              <a:lnSpc>
                <a:spcPct val="80000"/>
              </a:lnSpc>
              <a:spcBef>
                <a:spcPts val="1025"/>
              </a:spcBef>
              <a:buFont typeface="Arial MT"/>
              <a:buChar char="•"/>
              <a:tabLst>
                <a:tab pos="240665" algn="l"/>
              </a:tabLst>
            </a:pPr>
            <a:r>
              <a:rPr sz="2600" dirty="0">
                <a:latin typeface="Calibri"/>
                <a:cs typeface="Calibri"/>
              </a:rPr>
              <a:t>Choosing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the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right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assembly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tool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depends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on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factors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such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as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the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type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and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quality </a:t>
            </a:r>
            <a:r>
              <a:rPr sz="2600" dirty="0">
                <a:latin typeface="Calibri"/>
                <a:cs typeface="Calibri"/>
              </a:rPr>
              <a:t>of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sequencing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data,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the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size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and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complexity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of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the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genome,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and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the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research </a:t>
            </a:r>
            <a:r>
              <a:rPr sz="2600" dirty="0">
                <a:latin typeface="Calibri"/>
                <a:cs typeface="Calibri"/>
              </a:rPr>
              <a:t>question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being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addressed.</a:t>
            </a:r>
            <a:endParaRPr sz="2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24866" rIns="0" bIns="0" rtlCol="0">
            <a:spAutoFit/>
          </a:bodyPr>
          <a:lstStyle/>
          <a:p>
            <a:pPr marL="88900">
              <a:lnSpc>
                <a:spcPct val="100000"/>
              </a:lnSpc>
              <a:spcBef>
                <a:spcPts val="110"/>
              </a:spcBef>
            </a:pPr>
            <a:r>
              <a:rPr dirty="0"/>
              <a:t>Quality</a:t>
            </a:r>
            <a:r>
              <a:rPr spc="235" dirty="0"/>
              <a:t> </a:t>
            </a:r>
            <a:r>
              <a:rPr dirty="0"/>
              <a:t>checks</a:t>
            </a:r>
            <a:r>
              <a:rPr spc="240" dirty="0"/>
              <a:t> </a:t>
            </a:r>
            <a:r>
              <a:rPr dirty="0"/>
              <a:t>for</a:t>
            </a:r>
            <a:r>
              <a:rPr spc="250" dirty="0"/>
              <a:t> </a:t>
            </a:r>
            <a:r>
              <a:rPr dirty="0"/>
              <a:t>bacterial</a:t>
            </a:r>
            <a:r>
              <a:rPr spc="245" dirty="0"/>
              <a:t> </a:t>
            </a:r>
            <a:r>
              <a:rPr dirty="0"/>
              <a:t>assemblies</a:t>
            </a:r>
            <a:r>
              <a:rPr spc="229" dirty="0"/>
              <a:t> </a:t>
            </a:r>
            <a:r>
              <a:rPr dirty="0"/>
              <a:t>-</a:t>
            </a:r>
            <a:r>
              <a:rPr spc="-50" dirty="0"/>
              <a:t>1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92710" rIns="0" bIns="0" rtlCol="0">
            <a:spAutoFit/>
          </a:bodyPr>
          <a:lstStyle/>
          <a:p>
            <a:pPr marL="317500" marR="5080" indent="-228600">
              <a:lnSpc>
                <a:spcPts val="2710"/>
              </a:lnSpc>
              <a:spcBef>
                <a:spcPts val="730"/>
              </a:spcBef>
              <a:buFont typeface="Arial MT"/>
              <a:buChar char="•"/>
              <a:tabLst>
                <a:tab pos="317500" algn="l"/>
              </a:tabLst>
            </a:pPr>
            <a:r>
              <a:rPr dirty="0"/>
              <a:t>Quality</a:t>
            </a:r>
            <a:r>
              <a:rPr spc="-85" dirty="0"/>
              <a:t> </a:t>
            </a:r>
            <a:r>
              <a:rPr dirty="0"/>
              <a:t>checks</a:t>
            </a:r>
            <a:r>
              <a:rPr spc="-75" dirty="0"/>
              <a:t> </a:t>
            </a:r>
            <a:r>
              <a:rPr dirty="0"/>
              <a:t>for</a:t>
            </a:r>
            <a:r>
              <a:rPr spc="-80" dirty="0"/>
              <a:t> </a:t>
            </a:r>
            <a:r>
              <a:rPr dirty="0"/>
              <a:t>bacterial</a:t>
            </a:r>
            <a:r>
              <a:rPr spc="-80" dirty="0"/>
              <a:t> </a:t>
            </a:r>
            <a:r>
              <a:rPr dirty="0"/>
              <a:t>assemblies</a:t>
            </a:r>
            <a:r>
              <a:rPr spc="-75" dirty="0"/>
              <a:t> </a:t>
            </a:r>
            <a:r>
              <a:rPr dirty="0"/>
              <a:t>involve</a:t>
            </a:r>
            <a:r>
              <a:rPr spc="-80" dirty="0"/>
              <a:t> </a:t>
            </a:r>
            <a:r>
              <a:rPr dirty="0"/>
              <a:t>evaluating</a:t>
            </a:r>
            <a:r>
              <a:rPr spc="-85" dirty="0"/>
              <a:t> </a:t>
            </a:r>
            <a:r>
              <a:rPr dirty="0"/>
              <a:t>a</a:t>
            </a:r>
            <a:r>
              <a:rPr spc="-80" dirty="0"/>
              <a:t> </a:t>
            </a:r>
            <a:r>
              <a:rPr dirty="0"/>
              <a:t>variety</a:t>
            </a:r>
            <a:r>
              <a:rPr spc="-80" dirty="0"/>
              <a:t> </a:t>
            </a:r>
            <a:r>
              <a:rPr dirty="0"/>
              <a:t>of</a:t>
            </a:r>
            <a:r>
              <a:rPr spc="-80" dirty="0"/>
              <a:t> </a:t>
            </a:r>
            <a:r>
              <a:rPr spc="-10" dirty="0"/>
              <a:t>metrics, </a:t>
            </a:r>
            <a:r>
              <a:rPr dirty="0"/>
              <a:t>including</a:t>
            </a:r>
            <a:r>
              <a:rPr spc="-75" dirty="0"/>
              <a:t> </a:t>
            </a:r>
            <a:r>
              <a:rPr spc="-25" dirty="0"/>
              <a:t>contiguity,</a:t>
            </a:r>
            <a:r>
              <a:rPr spc="-65" dirty="0"/>
              <a:t> </a:t>
            </a:r>
            <a:r>
              <a:rPr spc="-10" dirty="0"/>
              <a:t>completeness,</a:t>
            </a:r>
            <a:r>
              <a:rPr spc="-65" dirty="0"/>
              <a:t> </a:t>
            </a:r>
            <a:r>
              <a:rPr spc="-25" dirty="0"/>
              <a:t>accuracy,</a:t>
            </a:r>
            <a:r>
              <a:rPr spc="-65" dirty="0"/>
              <a:t> </a:t>
            </a:r>
            <a:r>
              <a:rPr dirty="0"/>
              <a:t>and</a:t>
            </a:r>
            <a:r>
              <a:rPr spc="-65" dirty="0"/>
              <a:t> </a:t>
            </a:r>
            <a:r>
              <a:rPr spc="-10" dirty="0"/>
              <a:t>consistency.</a:t>
            </a:r>
          </a:p>
          <a:p>
            <a:pPr marL="317500" marR="267335" indent="-228600">
              <a:lnSpc>
                <a:spcPct val="80400"/>
              </a:lnSpc>
              <a:spcBef>
                <a:spcPts val="1015"/>
              </a:spcBef>
              <a:buFont typeface="Arial MT"/>
              <a:buChar char="•"/>
              <a:tabLst>
                <a:tab pos="317500" algn="l"/>
              </a:tabLst>
            </a:pPr>
            <a:r>
              <a:rPr b="1" dirty="0">
                <a:latin typeface="Calibri"/>
                <a:cs typeface="Calibri"/>
              </a:rPr>
              <a:t>Contiguity</a:t>
            </a:r>
            <a:r>
              <a:rPr b="1" spc="-65" dirty="0">
                <a:latin typeface="Calibri"/>
                <a:cs typeface="Calibri"/>
              </a:rPr>
              <a:t> </a:t>
            </a:r>
            <a:r>
              <a:rPr spc="-10" dirty="0"/>
              <a:t>refers</a:t>
            </a:r>
            <a:r>
              <a:rPr spc="-60" dirty="0"/>
              <a:t> </a:t>
            </a:r>
            <a:r>
              <a:rPr dirty="0"/>
              <a:t>to</a:t>
            </a:r>
            <a:r>
              <a:rPr spc="-70" dirty="0"/>
              <a:t> </a:t>
            </a:r>
            <a:r>
              <a:rPr dirty="0"/>
              <a:t>how</a:t>
            </a:r>
            <a:r>
              <a:rPr spc="-70" dirty="0"/>
              <a:t> </a:t>
            </a:r>
            <a:r>
              <a:rPr dirty="0"/>
              <a:t>well</a:t>
            </a:r>
            <a:r>
              <a:rPr spc="-65" dirty="0"/>
              <a:t> </a:t>
            </a:r>
            <a:r>
              <a:rPr dirty="0"/>
              <a:t>the</a:t>
            </a:r>
            <a:r>
              <a:rPr spc="-70" dirty="0"/>
              <a:t> </a:t>
            </a:r>
            <a:r>
              <a:rPr dirty="0"/>
              <a:t>assembled</a:t>
            </a:r>
            <a:r>
              <a:rPr spc="-65" dirty="0"/>
              <a:t> </a:t>
            </a:r>
            <a:r>
              <a:rPr spc="-20" dirty="0"/>
              <a:t>contigs/scaffolds</a:t>
            </a:r>
            <a:r>
              <a:rPr spc="-60" dirty="0"/>
              <a:t> </a:t>
            </a:r>
            <a:r>
              <a:rPr dirty="0"/>
              <a:t>represent</a:t>
            </a:r>
            <a:r>
              <a:rPr spc="-65" dirty="0"/>
              <a:t> </a:t>
            </a:r>
            <a:r>
              <a:rPr spc="-25" dirty="0"/>
              <a:t>the </a:t>
            </a:r>
            <a:r>
              <a:rPr dirty="0"/>
              <a:t>original</a:t>
            </a:r>
            <a:r>
              <a:rPr spc="-65" dirty="0"/>
              <a:t> </a:t>
            </a:r>
            <a:r>
              <a:rPr dirty="0"/>
              <a:t>genome,</a:t>
            </a:r>
            <a:r>
              <a:rPr spc="-50" dirty="0"/>
              <a:t> </a:t>
            </a:r>
            <a:r>
              <a:rPr dirty="0"/>
              <a:t>and</a:t>
            </a:r>
            <a:r>
              <a:rPr spc="-50" dirty="0"/>
              <a:t> </a:t>
            </a:r>
            <a:r>
              <a:rPr dirty="0"/>
              <a:t>can</a:t>
            </a:r>
            <a:r>
              <a:rPr spc="-55" dirty="0"/>
              <a:t> </a:t>
            </a:r>
            <a:r>
              <a:rPr dirty="0"/>
              <a:t>be</a:t>
            </a:r>
            <a:r>
              <a:rPr spc="-60" dirty="0"/>
              <a:t> </a:t>
            </a:r>
            <a:r>
              <a:rPr dirty="0"/>
              <a:t>assessed</a:t>
            </a:r>
            <a:r>
              <a:rPr spc="-50" dirty="0"/>
              <a:t> </a:t>
            </a:r>
            <a:r>
              <a:rPr dirty="0"/>
              <a:t>using</a:t>
            </a:r>
            <a:r>
              <a:rPr spc="-60" dirty="0"/>
              <a:t> </a:t>
            </a:r>
            <a:r>
              <a:rPr dirty="0"/>
              <a:t>metrics</a:t>
            </a:r>
            <a:r>
              <a:rPr spc="-55" dirty="0"/>
              <a:t> </a:t>
            </a:r>
            <a:r>
              <a:rPr dirty="0"/>
              <a:t>like</a:t>
            </a:r>
            <a:r>
              <a:rPr spc="-60" dirty="0"/>
              <a:t> </a:t>
            </a:r>
            <a:r>
              <a:rPr dirty="0"/>
              <a:t>N50,</a:t>
            </a:r>
            <a:r>
              <a:rPr spc="-50" dirty="0"/>
              <a:t> </a:t>
            </a:r>
            <a:r>
              <a:rPr dirty="0"/>
              <a:t>L50,</a:t>
            </a:r>
            <a:r>
              <a:rPr spc="-55" dirty="0"/>
              <a:t> </a:t>
            </a:r>
            <a:r>
              <a:rPr spc="-25" dirty="0"/>
              <a:t>and </a:t>
            </a:r>
            <a:r>
              <a:rPr dirty="0"/>
              <a:t>genome</a:t>
            </a:r>
            <a:r>
              <a:rPr spc="-90" dirty="0"/>
              <a:t> </a:t>
            </a:r>
            <a:r>
              <a:rPr spc="-10" dirty="0"/>
              <a:t>fraction.</a:t>
            </a:r>
          </a:p>
          <a:p>
            <a:pPr marL="317500" marR="32384" indent="-228600">
              <a:lnSpc>
                <a:spcPct val="77100"/>
              </a:lnSpc>
              <a:spcBef>
                <a:spcPts val="1105"/>
              </a:spcBef>
              <a:buFont typeface="Arial MT"/>
              <a:buChar char="•"/>
              <a:tabLst>
                <a:tab pos="317500" algn="l"/>
              </a:tabLst>
            </a:pPr>
            <a:r>
              <a:rPr b="1" dirty="0">
                <a:latin typeface="Calibri"/>
                <a:cs typeface="Calibri"/>
              </a:rPr>
              <a:t>Completeness</a:t>
            </a:r>
            <a:r>
              <a:rPr b="1" spc="-55" dirty="0">
                <a:latin typeface="Calibri"/>
                <a:cs typeface="Calibri"/>
              </a:rPr>
              <a:t> </a:t>
            </a:r>
            <a:r>
              <a:rPr spc="-10" dirty="0"/>
              <a:t>refers</a:t>
            </a:r>
            <a:r>
              <a:rPr spc="-50" dirty="0"/>
              <a:t> </a:t>
            </a:r>
            <a:r>
              <a:rPr dirty="0"/>
              <a:t>to</a:t>
            </a:r>
            <a:r>
              <a:rPr spc="-55" dirty="0"/>
              <a:t> </a:t>
            </a:r>
            <a:r>
              <a:rPr dirty="0"/>
              <a:t>the</a:t>
            </a:r>
            <a:r>
              <a:rPr spc="-60" dirty="0"/>
              <a:t> </a:t>
            </a:r>
            <a:r>
              <a:rPr spc="-10" dirty="0"/>
              <a:t>percentage</a:t>
            </a:r>
            <a:r>
              <a:rPr spc="-55" dirty="0"/>
              <a:t> </a:t>
            </a:r>
            <a:r>
              <a:rPr dirty="0"/>
              <a:t>of</a:t>
            </a:r>
            <a:r>
              <a:rPr spc="-60" dirty="0"/>
              <a:t> </a:t>
            </a:r>
            <a:r>
              <a:rPr dirty="0"/>
              <a:t>the</a:t>
            </a:r>
            <a:r>
              <a:rPr spc="-60" dirty="0"/>
              <a:t> </a:t>
            </a:r>
            <a:r>
              <a:rPr dirty="0"/>
              <a:t>original</a:t>
            </a:r>
            <a:r>
              <a:rPr spc="-55" dirty="0"/>
              <a:t> </a:t>
            </a:r>
            <a:r>
              <a:rPr dirty="0"/>
              <a:t>genome</a:t>
            </a:r>
            <a:r>
              <a:rPr spc="-60" dirty="0"/>
              <a:t> </a:t>
            </a:r>
            <a:r>
              <a:rPr dirty="0"/>
              <a:t>that</a:t>
            </a:r>
            <a:r>
              <a:rPr spc="-50" dirty="0"/>
              <a:t> </a:t>
            </a:r>
            <a:r>
              <a:rPr dirty="0"/>
              <a:t>is</a:t>
            </a:r>
            <a:r>
              <a:rPr spc="-50" dirty="0"/>
              <a:t> </a:t>
            </a:r>
            <a:r>
              <a:rPr spc="-10" dirty="0"/>
              <a:t>present </a:t>
            </a:r>
            <a:r>
              <a:rPr dirty="0"/>
              <a:t>in</a:t>
            </a:r>
            <a:r>
              <a:rPr spc="-50" dirty="0"/>
              <a:t> </a:t>
            </a:r>
            <a:r>
              <a:rPr dirty="0"/>
              <a:t>the</a:t>
            </a:r>
            <a:r>
              <a:rPr spc="-60" dirty="0"/>
              <a:t> </a:t>
            </a:r>
            <a:r>
              <a:rPr spc="-20" dirty="0"/>
              <a:t>assembly,</a:t>
            </a:r>
            <a:r>
              <a:rPr spc="-50" dirty="0"/>
              <a:t> </a:t>
            </a:r>
            <a:r>
              <a:rPr dirty="0"/>
              <a:t>and</a:t>
            </a:r>
            <a:r>
              <a:rPr spc="-50" dirty="0"/>
              <a:t> </a:t>
            </a:r>
            <a:r>
              <a:rPr dirty="0"/>
              <a:t>can</a:t>
            </a:r>
            <a:r>
              <a:rPr spc="-50" dirty="0"/>
              <a:t> </a:t>
            </a:r>
            <a:r>
              <a:rPr dirty="0"/>
              <a:t>be</a:t>
            </a:r>
            <a:r>
              <a:rPr spc="-60" dirty="0"/>
              <a:t> </a:t>
            </a:r>
            <a:r>
              <a:rPr spc="-10" dirty="0"/>
              <a:t>evaluated</a:t>
            </a:r>
            <a:r>
              <a:rPr spc="-50" dirty="0"/>
              <a:t> </a:t>
            </a:r>
            <a:r>
              <a:rPr dirty="0"/>
              <a:t>using</a:t>
            </a:r>
            <a:r>
              <a:rPr spc="-55" dirty="0"/>
              <a:t> </a:t>
            </a:r>
            <a:r>
              <a:rPr dirty="0"/>
              <a:t>tools</a:t>
            </a:r>
            <a:r>
              <a:rPr spc="-50" dirty="0"/>
              <a:t> </a:t>
            </a:r>
            <a:r>
              <a:rPr dirty="0"/>
              <a:t>like</a:t>
            </a:r>
            <a:r>
              <a:rPr spc="-60" dirty="0"/>
              <a:t> </a:t>
            </a:r>
            <a:r>
              <a:rPr dirty="0"/>
              <a:t>BUSCO</a:t>
            </a:r>
            <a:r>
              <a:rPr spc="-55" dirty="0"/>
              <a:t> </a:t>
            </a:r>
            <a:r>
              <a:rPr dirty="0"/>
              <a:t>and</a:t>
            </a:r>
            <a:r>
              <a:rPr spc="-50" dirty="0"/>
              <a:t> </a:t>
            </a:r>
            <a:r>
              <a:rPr spc="-10" dirty="0"/>
              <a:t>CheckM.</a:t>
            </a:r>
          </a:p>
          <a:p>
            <a:pPr marL="317500" marR="401955" indent="-228600">
              <a:lnSpc>
                <a:spcPct val="80400"/>
              </a:lnSpc>
              <a:spcBef>
                <a:spcPts val="994"/>
              </a:spcBef>
              <a:buFont typeface="Arial MT"/>
              <a:buChar char="•"/>
              <a:tabLst>
                <a:tab pos="317500" algn="l"/>
              </a:tabLst>
            </a:pPr>
            <a:r>
              <a:rPr b="1" dirty="0">
                <a:latin typeface="Calibri"/>
                <a:cs typeface="Calibri"/>
              </a:rPr>
              <a:t>Accuracy</a:t>
            </a:r>
            <a:r>
              <a:rPr b="1" spc="-65" dirty="0">
                <a:latin typeface="Calibri"/>
                <a:cs typeface="Calibri"/>
              </a:rPr>
              <a:t> </a:t>
            </a:r>
            <a:r>
              <a:rPr spc="-20" dirty="0"/>
              <a:t>refers</a:t>
            </a:r>
            <a:r>
              <a:rPr spc="-55" dirty="0"/>
              <a:t> </a:t>
            </a:r>
            <a:r>
              <a:rPr dirty="0"/>
              <a:t>to</a:t>
            </a:r>
            <a:r>
              <a:rPr spc="-60" dirty="0"/>
              <a:t> </a:t>
            </a:r>
            <a:r>
              <a:rPr dirty="0"/>
              <a:t>the</a:t>
            </a:r>
            <a:r>
              <a:rPr spc="-65" dirty="0"/>
              <a:t> </a:t>
            </a:r>
            <a:r>
              <a:rPr dirty="0"/>
              <a:t>correctness</a:t>
            </a:r>
            <a:r>
              <a:rPr spc="-60" dirty="0"/>
              <a:t> </a:t>
            </a:r>
            <a:r>
              <a:rPr dirty="0"/>
              <a:t>of</a:t>
            </a:r>
            <a:r>
              <a:rPr spc="-60" dirty="0"/>
              <a:t> </a:t>
            </a:r>
            <a:r>
              <a:rPr dirty="0"/>
              <a:t>the</a:t>
            </a:r>
            <a:r>
              <a:rPr spc="-65" dirty="0"/>
              <a:t> </a:t>
            </a:r>
            <a:r>
              <a:rPr spc="-20" dirty="0"/>
              <a:t>assembly,</a:t>
            </a:r>
            <a:r>
              <a:rPr spc="-55" dirty="0"/>
              <a:t> </a:t>
            </a:r>
            <a:r>
              <a:rPr dirty="0"/>
              <a:t>and</a:t>
            </a:r>
            <a:r>
              <a:rPr spc="-55" dirty="0"/>
              <a:t> </a:t>
            </a:r>
            <a:r>
              <a:rPr dirty="0"/>
              <a:t>can</a:t>
            </a:r>
            <a:r>
              <a:rPr spc="-60" dirty="0"/>
              <a:t> </a:t>
            </a:r>
            <a:r>
              <a:rPr dirty="0"/>
              <a:t>be</a:t>
            </a:r>
            <a:r>
              <a:rPr spc="-65" dirty="0"/>
              <a:t> </a:t>
            </a:r>
            <a:r>
              <a:rPr dirty="0"/>
              <a:t>assessed</a:t>
            </a:r>
            <a:r>
              <a:rPr spc="-55" dirty="0"/>
              <a:t> </a:t>
            </a:r>
            <a:r>
              <a:rPr spc="-25" dirty="0"/>
              <a:t>by </a:t>
            </a:r>
            <a:r>
              <a:rPr dirty="0"/>
              <a:t>comparing</a:t>
            </a:r>
            <a:r>
              <a:rPr spc="-60" dirty="0"/>
              <a:t> </a:t>
            </a:r>
            <a:r>
              <a:rPr dirty="0"/>
              <a:t>the</a:t>
            </a:r>
            <a:r>
              <a:rPr spc="-60" dirty="0"/>
              <a:t> </a:t>
            </a:r>
            <a:r>
              <a:rPr dirty="0"/>
              <a:t>assembled</a:t>
            </a:r>
            <a:r>
              <a:rPr spc="-50" dirty="0"/>
              <a:t> </a:t>
            </a:r>
            <a:r>
              <a:rPr dirty="0"/>
              <a:t>genome</a:t>
            </a:r>
            <a:r>
              <a:rPr spc="-60" dirty="0"/>
              <a:t> </a:t>
            </a:r>
            <a:r>
              <a:rPr dirty="0"/>
              <a:t>to</a:t>
            </a:r>
            <a:r>
              <a:rPr spc="-55" dirty="0"/>
              <a:t> </a:t>
            </a:r>
            <a:r>
              <a:rPr dirty="0"/>
              <a:t>a</a:t>
            </a:r>
            <a:r>
              <a:rPr spc="-60" dirty="0"/>
              <a:t> </a:t>
            </a:r>
            <a:r>
              <a:rPr spc="-10" dirty="0"/>
              <a:t>reference</a:t>
            </a:r>
            <a:r>
              <a:rPr spc="-55" dirty="0"/>
              <a:t> </a:t>
            </a:r>
            <a:r>
              <a:rPr dirty="0"/>
              <a:t>genome</a:t>
            </a:r>
            <a:r>
              <a:rPr spc="-60" dirty="0"/>
              <a:t> </a:t>
            </a:r>
            <a:r>
              <a:rPr dirty="0"/>
              <a:t>or</a:t>
            </a:r>
            <a:r>
              <a:rPr spc="-60" dirty="0"/>
              <a:t> </a:t>
            </a:r>
            <a:r>
              <a:rPr dirty="0"/>
              <a:t>to</a:t>
            </a:r>
            <a:r>
              <a:rPr spc="-55" dirty="0"/>
              <a:t> </a:t>
            </a:r>
            <a:r>
              <a:rPr spc="-10" dirty="0"/>
              <a:t>other </a:t>
            </a:r>
            <a:r>
              <a:rPr dirty="0"/>
              <a:t>sequencing</a:t>
            </a:r>
            <a:r>
              <a:rPr spc="-60" dirty="0"/>
              <a:t> </a:t>
            </a:r>
            <a:r>
              <a:rPr spc="-20" dirty="0"/>
              <a:t>data.</a:t>
            </a:r>
          </a:p>
          <a:p>
            <a:pPr marL="317500" marR="8255" indent="-228600">
              <a:lnSpc>
                <a:spcPts val="2690"/>
              </a:lnSpc>
              <a:spcBef>
                <a:spcPts val="1010"/>
              </a:spcBef>
              <a:buFont typeface="Arial MT"/>
              <a:buChar char="•"/>
              <a:tabLst>
                <a:tab pos="317500" algn="l"/>
              </a:tabLst>
            </a:pPr>
            <a:r>
              <a:rPr b="1" dirty="0">
                <a:latin typeface="Calibri"/>
                <a:cs typeface="Calibri"/>
              </a:rPr>
              <a:t>Consistency</a:t>
            </a:r>
            <a:r>
              <a:rPr b="1" spc="-60" dirty="0">
                <a:latin typeface="Calibri"/>
                <a:cs typeface="Calibri"/>
              </a:rPr>
              <a:t> </a:t>
            </a:r>
            <a:r>
              <a:rPr spc="-20" dirty="0"/>
              <a:t>refers</a:t>
            </a:r>
            <a:r>
              <a:rPr spc="-55" dirty="0"/>
              <a:t> </a:t>
            </a:r>
            <a:r>
              <a:rPr dirty="0"/>
              <a:t>to</a:t>
            </a:r>
            <a:r>
              <a:rPr spc="-65" dirty="0"/>
              <a:t> </a:t>
            </a:r>
            <a:r>
              <a:rPr dirty="0"/>
              <a:t>the</a:t>
            </a:r>
            <a:r>
              <a:rPr spc="-65" dirty="0"/>
              <a:t> </a:t>
            </a:r>
            <a:r>
              <a:rPr spc="-10" dirty="0"/>
              <a:t>concordance</a:t>
            </a:r>
            <a:r>
              <a:rPr spc="-65" dirty="0"/>
              <a:t> </a:t>
            </a:r>
            <a:r>
              <a:rPr dirty="0"/>
              <a:t>between</a:t>
            </a:r>
            <a:r>
              <a:rPr spc="-55" dirty="0"/>
              <a:t> </a:t>
            </a:r>
            <a:r>
              <a:rPr dirty="0"/>
              <a:t>the</a:t>
            </a:r>
            <a:r>
              <a:rPr spc="-65" dirty="0"/>
              <a:t> </a:t>
            </a:r>
            <a:r>
              <a:rPr dirty="0"/>
              <a:t>assembly</a:t>
            </a:r>
            <a:r>
              <a:rPr spc="-70" dirty="0"/>
              <a:t> </a:t>
            </a:r>
            <a:r>
              <a:rPr dirty="0"/>
              <a:t>and</a:t>
            </a:r>
            <a:r>
              <a:rPr spc="-55" dirty="0"/>
              <a:t> </a:t>
            </a:r>
            <a:r>
              <a:rPr dirty="0"/>
              <a:t>other</a:t>
            </a:r>
            <a:r>
              <a:rPr spc="-60" dirty="0"/>
              <a:t> </a:t>
            </a:r>
            <a:r>
              <a:rPr spc="-10" dirty="0"/>
              <a:t>data, </a:t>
            </a:r>
            <a:r>
              <a:rPr dirty="0"/>
              <a:t>such</a:t>
            </a:r>
            <a:r>
              <a:rPr spc="-35" dirty="0"/>
              <a:t> </a:t>
            </a:r>
            <a:r>
              <a:rPr dirty="0"/>
              <a:t>as</a:t>
            </a:r>
            <a:r>
              <a:rPr spc="-35" dirty="0"/>
              <a:t> </a:t>
            </a:r>
            <a:r>
              <a:rPr spc="-10" dirty="0"/>
              <a:t>transcriptomics</a:t>
            </a:r>
            <a:r>
              <a:rPr spc="-30" dirty="0"/>
              <a:t> </a:t>
            </a:r>
            <a:r>
              <a:rPr dirty="0"/>
              <a:t>or</a:t>
            </a:r>
            <a:r>
              <a:rPr spc="-40" dirty="0"/>
              <a:t> </a:t>
            </a:r>
            <a:r>
              <a:rPr spc="-10" dirty="0"/>
              <a:t>proteomics</a:t>
            </a:r>
            <a:r>
              <a:rPr spc="-30" dirty="0"/>
              <a:t> </a:t>
            </a:r>
            <a:r>
              <a:rPr spc="-10" dirty="0"/>
              <a:t>data.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7851" y="384208"/>
            <a:ext cx="9255125" cy="68326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/>
              <a:t>Quality</a:t>
            </a:r>
            <a:r>
              <a:rPr spc="235" dirty="0"/>
              <a:t> </a:t>
            </a:r>
            <a:r>
              <a:rPr dirty="0"/>
              <a:t>checks</a:t>
            </a:r>
            <a:r>
              <a:rPr spc="240" dirty="0"/>
              <a:t> </a:t>
            </a:r>
            <a:r>
              <a:rPr dirty="0"/>
              <a:t>for</a:t>
            </a:r>
            <a:r>
              <a:rPr spc="250" dirty="0"/>
              <a:t> </a:t>
            </a:r>
            <a:r>
              <a:rPr dirty="0"/>
              <a:t>bacterial</a:t>
            </a:r>
            <a:r>
              <a:rPr spc="245" dirty="0"/>
              <a:t> </a:t>
            </a:r>
            <a:r>
              <a:rPr dirty="0"/>
              <a:t>assemblies</a:t>
            </a:r>
            <a:r>
              <a:rPr spc="229" dirty="0"/>
              <a:t> </a:t>
            </a:r>
            <a:r>
              <a:rPr dirty="0"/>
              <a:t>-</a:t>
            </a:r>
            <a:r>
              <a:rPr spc="-50" dirty="0"/>
              <a:t>2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17850" y="1283715"/>
            <a:ext cx="11369675" cy="5064125"/>
          </a:xfrm>
          <a:prstGeom prst="rect">
            <a:avLst/>
          </a:prstGeom>
        </p:spPr>
        <p:txBody>
          <a:bodyPr vert="horz" wrap="square" lIns="0" tIns="92710" rIns="0" bIns="0" rtlCol="0">
            <a:spAutoFit/>
          </a:bodyPr>
          <a:lstStyle/>
          <a:p>
            <a:pPr marL="241300" marR="267335" indent="-228600">
              <a:lnSpc>
                <a:spcPts val="2710"/>
              </a:lnSpc>
              <a:spcBef>
                <a:spcPts val="730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Some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popular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tools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for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assessing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quality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bacterial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assemblies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include </a:t>
            </a:r>
            <a:r>
              <a:rPr sz="2800" spc="-55" dirty="0">
                <a:latin typeface="Calibri"/>
                <a:cs typeface="Calibri"/>
              </a:rPr>
              <a:t>QUAST,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REAPR,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MUMmer.</a:t>
            </a:r>
            <a:endParaRPr sz="2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330"/>
              </a:spcBef>
              <a:buFont typeface="Arial MT"/>
              <a:buChar char="•"/>
            </a:pPr>
            <a:endParaRPr sz="2800">
              <a:latin typeface="Calibri"/>
              <a:cs typeface="Calibri"/>
            </a:endParaRPr>
          </a:p>
          <a:p>
            <a:pPr marL="241300" marR="207645" indent="-228600">
              <a:lnSpc>
                <a:spcPct val="79300"/>
              </a:lnSpc>
              <a:buFont typeface="Arial MT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Quality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checks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should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be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performed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at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multiple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stages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assembly </a:t>
            </a:r>
            <a:r>
              <a:rPr sz="2800" dirty="0">
                <a:latin typeface="Calibri"/>
                <a:cs typeface="Calibri"/>
              </a:rPr>
              <a:t>process,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including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pre-</a:t>
            </a:r>
            <a:r>
              <a:rPr sz="2800" spc="-20" dirty="0">
                <a:latin typeface="Calibri"/>
                <a:cs typeface="Calibri"/>
              </a:rPr>
              <a:t>assembly,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during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assembly,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40" dirty="0">
                <a:latin typeface="Calibri"/>
                <a:cs typeface="Calibri"/>
              </a:rPr>
              <a:t>post-</a:t>
            </a:r>
            <a:r>
              <a:rPr sz="2800" spc="-20" dirty="0">
                <a:latin typeface="Calibri"/>
                <a:cs typeface="Calibri"/>
              </a:rPr>
              <a:t>assembly.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This </a:t>
            </a:r>
            <a:r>
              <a:rPr sz="2800" dirty="0">
                <a:latin typeface="Calibri"/>
                <a:cs typeface="Calibri"/>
              </a:rPr>
              <a:t>allows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for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early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detection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correction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errors,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can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help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ensure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that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final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assembly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is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as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accurate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reliable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as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possible.</a:t>
            </a:r>
            <a:endParaRPr sz="2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295"/>
              </a:spcBef>
              <a:buFont typeface="Arial MT"/>
              <a:buChar char="•"/>
            </a:pPr>
            <a:endParaRPr sz="2800">
              <a:latin typeface="Calibri"/>
              <a:cs typeface="Calibri"/>
            </a:endParaRPr>
          </a:p>
          <a:p>
            <a:pPr marL="241300" marR="5080" indent="-228600">
              <a:lnSpc>
                <a:spcPct val="80400"/>
              </a:lnSpc>
              <a:buFont typeface="Arial MT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Quality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checks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can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also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help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guide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decisions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about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which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assembly parameters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use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how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optimize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assembly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process.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By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identifying </a:t>
            </a:r>
            <a:r>
              <a:rPr sz="2800" dirty="0">
                <a:latin typeface="Calibri"/>
                <a:cs typeface="Calibri"/>
              </a:rPr>
              <a:t>areas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weakness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or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improvement,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quality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checks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can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help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researchers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and </a:t>
            </a:r>
            <a:r>
              <a:rPr sz="2800" spc="-10" dirty="0">
                <a:latin typeface="Calibri"/>
                <a:cs typeface="Calibri"/>
              </a:rPr>
              <a:t>bioinformaticians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improve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quality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accuracy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their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bacterial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genome assemblies.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5722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10"/>
              </a:spcBef>
            </a:pPr>
            <a:r>
              <a:rPr dirty="0"/>
              <a:t>Contig</a:t>
            </a:r>
            <a:r>
              <a:rPr spc="220" dirty="0"/>
              <a:t> </a:t>
            </a:r>
            <a:r>
              <a:rPr dirty="0"/>
              <a:t>ordering</a:t>
            </a:r>
            <a:r>
              <a:rPr spc="220" dirty="0"/>
              <a:t> </a:t>
            </a:r>
            <a:r>
              <a:rPr dirty="0"/>
              <a:t>and</a:t>
            </a:r>
            <a:r>
              <a:rPr spc="220" dirty="0"/>
              <a:t> </a:t>
            </a:r>
            <a:r>
              <a:rPr spc="-10" dirty="0"/>
              <a:t>scaffolding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86317" y="1440180"/>
            <a:ext cx="11694160" cy="5210175"/>
          </a:xfrm>
          <a:prstGeom prst="rect">
            <a:avLst/>
          </a:prstGeom>
        </p:spPr>
        <p:txBody>
          <a:bodyPr vert="horz" wrap="square" lIns="0" tIns="60325" rIns="0" bIns="0" rtlCol="0">
            <a:spAutoFit/>
          </a:bodyPr>
          <a:lstStyle/>
          <a:p>
            <a:pPr marL="240665" marR="5080" indent="-228600">
              <a:lnSpc>
                <a:spcPts val="2780"/>
              </a:lnSpc>
              <a:spcBef>
                <a:spcPts val="475"/>
              </a:spcBef>
              <a:buFont typeface="Arial MT"/>
              <a:buChar char="•"/>
              <a:tabLst>
                <a:tab pos="240665" algn="l"/>
              </a:tabLst>
            </a:pPr>
            <a:r>
              <a:rPr sz="2600" dirty="0">
                <a:latin typeface="Calibri"/>
                <a:cs typeface="Calibri"/>
              </a:rPr>
              <a:t>Contig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ordering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and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scaffolding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are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crucial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steps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in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the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assembly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process,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as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they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help </a:t>
            </a:r>
            <a:r>
              <a:rPr sz="2600" dirty="0">
                <a:latin typeface="Calibri"/>
                <a:cs typeface="Calibri"/>
              </a:rPr>
              <a:t>to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create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more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complete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and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accurate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representation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of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the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genome.</a:t>
            </a:r>
            <a:endParaRPr sz="2600">
              <a:latin typeface="Calibri"/>
              <a:cs typeface="Calibri"/>
            </a:endParaRPr>
          </a:p>
          <a:p>
            <a:pPr marL="240665" marR="589915" indent="-228600">
              <a:lnSpc>
                <a:spcPct val="91200"/>
              </a:lnSpc>
              <a:spcBef>
                <a:spcPts val="940"/>
              </a:spcBef>
              <a:buFont typeface="Arial MT"/>
              <a:buChar char="•"/>
              <a:tabLst>
                <a:tab pos="240665" algn="l"/>
              </a:tabLst>
            </a:pPr>
            <a:r>
              <a:rPr sz="2600" dirty="0">
                <a:latin typeface="Calibri"/>
                <a:cs typeface="Calibri"/>
              </a:rPr>
              <a:t>The</a:t>
            </a:r>
            <a:r>
              <a:rPr sz="2600" spc="-8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process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of</a:t>
            </a:r>
            <a:r>
              <a:rPr sz="2600" spc="-8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contig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ordering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involves</a:t>
            </a:r>
            <a:r>
              <a:rPr sz="2600" spc="-8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arranging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contigs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in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the</a:t>
            </a:r>
            <a:r>
              <a:rPr sz="2600" spc="-8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correct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order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spc="-25" dirty="0">
                <a:latin typeface="Calibri"/>
                <a:cs typeface="Calibri"/>
              </a:rPr>
              <a:t>and </a:t>
            </a:r>
            <a:r>
              <a:rPr sz="2600" spc="-10" dirty="0">
                <a:latin typeface="Calibri"/>
                <a:cs typeface="Calibri"/>
              </a:rPr>
              <a:t>orientation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based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on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their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relationships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to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one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spc="-30" dirty="0">
                <a:latin typeface="Calibri"/>
                <a:cs typeface="Calibri"/>
              </a:rPr>
              <a:t>another. </a:t>
            </a:r>
            <a:r>
              <a:rPr sz="2600" dirty="0">
                <a:latin typeface="Calibri"/>
                <a:cs typeface="Calibri"/>
              </a:rPr>
              <a:t>This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can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be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done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using </a:t>
            </a:r>
            <a:r>
              <a:rPr sz="2600" dirty="0">
                <a:latin typeface="Calibri"/>
                <a:cs typeface="Calibri"/>
              </a:rPr>
              <a:t>various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methods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such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as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spc="-25" dirty="0">
                <a:latin typeface="Calibri"/>
                <a:cs typeface="Calibri"/>
              </a:rPr>
              <a:t>mate-</a:t>
            </a:r>
            <a:r>
              <a:rPr sz="2600" dirty="0">
                <a:latin typeface="Calibri"/>
                <a:cs typeface="Calibri"/>
              </a:rPr>
              <a:t>pair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sequencing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or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optical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mapping.</a:t>
            </a:r>
            <a:endParaRPr sz="2600">
              <a:latin typeface="Calibri"/>
              <a:cs typeface="Calibri"/>
            </a:endParaRPr>
          </a:p>
          <a:p>
            <a:pPr marL="240665" marR="262255" indent="-228600">
              <a:lnSpc>
                <a:spcPct val="89600"/>
              </a:lnSpc>
              <a:spcBef>
                <a:spcPts val="1019"/>
              </a:spcBef>
              <a:buFont typeface="Arial MT"/>
              <a:buChar char="•"/>
              <a:tabLst>
                <a:tab pos="240665" algn="l"/>
              </a:tabLst>
            </a:pPr>
            <a:r>
              <a:rPr sz="2600" spc="-10" dirty="0">
                <a:latin typeface="Calibri"/>
                <a:cs typeface="Calibri"/>
              </a:rPr>
              <a:t>Scaffolding</a:t>
            </a:r>
            <a:r>
              <a:rPr sz="2600" spc="-8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involves</a:t>
            </a:r>
            <a:r>
              <a:rPr sz="2600" spc="-8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filling</a:t>
            </a:r>
            <a:r>
              <a:rPr sz="2600" spc="-8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in</a:t>
            </a:r>
            <a:r>
              <a:rPr sz="2600" spc="-8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gaps</a:t>
            </a:r>
            <a:r>
              <a:rPr sz="2600" spc="-9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between</a:t>
            </a:r>
            <a:r>
              <a:rPr sz="2600" spc="-8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contigs</a:t>
            </a:r>
            <a:r>
              <a:rPr sz="2600" spc="-8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to</a:t>
            </a:r>
            <a:r>
              <a:rPr sz="2600" spc="-8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create</a:t>
            </a:r>
            <a:r>
              <a:rPr sz="2600" spc="-9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larger</a:t>
            </a:r>
            <a:r>
              <a:rPr sz="2600" spc="-8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sequences</a:t>
            </a:r>
            <a:r>
              <a:rPr sz="2600" spc="-8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called scaffolds.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This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can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be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done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using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paired-</a:t>
            </a:r>
            <a:r>
              <a:rPr sz="2600" dirty="0">
                <a:latin typeface="Calibri"/>
                <a:cs typeface="Calibri"/>
              </a:rPr>
              <a:t>end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sequencing,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long-</a:t>
            </a:r>
            <a:r>
              <a:rPr sz="2600" dirty="0">
                <a:latin typeface="Calibri"/>
                <a:cs typeface="Calibri"/>
              </a:rPr>
              <a:t>read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sequencing,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spc="-25" dirty="0">
                <a:latin typeface="Calibri"/>
                <a:cs typeface="Calibri"/>
              </a:rPr>
              <a:t>or </a:t>
            </a:r>
            <a:r>
              <a:rPr sz="2600" dirty="0">
                <a:latin typeface="Calibri"/>
                <a:cs typeface="Calibri"/>
              </a:rPr>
              <a:t>other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methods.</a:t>
            </a:r>
            <a:endParaRPr sz="2600">
              <a:latin typeface="Calibri"/>
              <a:cs typeface="Calibri"/>
            </a:endParaRPr>
          </a:p>
          <a:p>
            <a:pPr marL="240665" marR="646430" indent="-228600">
              <a:lnSpc>
                <a:spcPts val="2810"/>
              </a:lnSpc>
              <a:spcBef>
                <a:spcPts val="1025"/>
              </a:spcBef>
              <a:buFont typeface="Arial MT"/>
              <a:buChar char="•"/>
              <a:tabLst>
                <a:tab pos="240665" algn="l"/>
              </a:tabLst>
            </a:pPr>
            <a:r>
              <a:rPr sz="2600" spc="-10" dirty="0">
                <a:latin typeface="Calibri"/>
                <a:cs typeface="Calibri"/>
              </a:rPr>
              <a:t>Various</a:t>
            </a:r>
            <a:r>
              <a:rPr sz="2600" spc="-8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software</a:t>
            </a:r>
            <a:r>
              <a:rPr sz="2600" spc="-8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tools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are</a:t>
            </a:r>
            <a:r>
              <a:rPr sz="2600" spc="-8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available</a:t>
            </a:r>
            <a:r>
              <a:rPr sz="2600" spc="-8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for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contig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ordering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and</a:t>
            </a:r>
            <a:r>
              <a:rPr sz="2600" spc="-8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scaffolding,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including </a:t>
            </a:r>
            <a:r>
              <a:rPr sz="2600" spc="-25" dirty="0">
                <a:latin typeface="Calibri"/>
                <a:cs typeface="Calibri"/>
              </a:rPr>
              <a:t>SSPACE,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spc="-50" dirty="0">
                <a:latin typeface="Calibri"/>
                <a:cs typeface="Calibri"/>
              </a:rPr>
              <a:t>BESST,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and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LRScaf.</a:t>
            </a:r>
            <a:endParaRPr sz="2600">
              <a:latin typeface="Calibri"/>
              <a:cs typeface="Calibri"/>
            </a:endParaRPr>
          </a:p>
          <a:p>
            <a:pPr marL="240665" marR="175895" indent="-228600">
              <a:lnSpc>
                <a:spcPts val="2810"/>
              </a:lnSpc>
              <a:spcBef>
                <a:spcPts val="980"/>
              </a:spcBef>
              <a:buFont typeface="Arial MT"/>
              <a:buChar char="•"/>
              <a:tabLst>
                <a:tab pos="240665" algn="l"/>
              </a:tabLst>
            </a:pPr>
            <a:r>
              <a:rPr sz="2600" dirty="0">
                <a:latin typeface="Calibri"/>
                <a:cs typeface="Calibri"/>
              </a:rPr>
              <a:t>The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quality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of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the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resulting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scaffolds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can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be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assessed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using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various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metrics,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such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spc="-25" dirty="0">
                <a:latin typeface="Calibri"/>
                <a:cs typeface="Calibri"/>
              </a:rPr>
              <a:t>as </a:t>
            </a:r>
            <a:r>
              <a:rPr sz="2600" dirty="0">
                <a:latin typeface="Calibri"/>
                <a:cs typeface="Calibri"/>
              </a:rPr>
              <a:t>N50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and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genome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completeness,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to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ensure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that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they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are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accurate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and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representative </a:t>
            </a:r>
            <a:r>
              <a:rPr sz="2600" dirty="0">
                <a:latin typeface="Calibri"/>
                <a:cs typeface="Calibri"/>
              </a:rPr>
              <a:t>of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the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underlying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genome.</a:t>
            </a:r>
            <a:endParaRPr sz="2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3768" y="381160"/>
            <a:ext cx="5415280" cy="68326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50" dirty="0"/>
              <a:t>Genome</a:t>
            </a:r>
            <a:r>
              <a:rPr spc="30" dirty="0"/>
              <a:t> </a:t>
            </a:r>
            <a:r>
              <a:rPr dirty="0"/>
              <a:t>size</a:t>
            </a:r>
            <a:r>
              <a:rPr spc="40" dirty="0"/>
              <a:t> </a:t>
            </a:r>
            <a:r>
              <a:rPr spc="-10" dirty="0"/>
              <a:t>estimation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33768" y="1262379"/>
            <a:ext cx="11571605" cy="5176520"/>
          </a:xfrm>
          <a:prstGeom prst="rect">
            <a:avLst/>
          </a:prstGeom>
        </p:spPr>
        <p:txBody>
          <a:bodyPr vert="horz" wrap="square" lIns="0" tIns="63500" rIns="0" bIns="0" rtlCol="0">
            <a:spAutoFit/>
          </a:bodyPr>
          <a:lstStyle/>
          <a:p>
            <a:pPr marL="241300" marR="46355" indent="-228600">
              <a:lnSpc>
                <a:spcPts val="3000"/>
              </a:lnSpc>
              <a:spcBef>
                <a:spcPts val="500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Genome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size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estimation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is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important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step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bacterial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assembly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process </a:t>
            </a:r>
            <a:r>
              <a:rPr sz="2800" dirty="0">
                <a:latin typeface="Calibri"/>
                <a:cs typeface="Calibri"/>
              </a:rPr>
              <a:t>that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allows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researchers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determine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size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complexity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bacterial genome.</a:t>
            </a:r>
            <a:endParaRPr sz="2800">
              <a:latin typeface="Calibri"/>
              <a:cs typeface="Calibri"/>
            </a:endParaRPr>
          </a:p>
          <a:p>
            <a:pPr marL="241300" marR="60325" indent="-228600">
              <a:lnSpc>
                <a:spcPts val="3000"/>
              </a:lnSpc>
              <a:spcBef>
                <a:spcPts val="1105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spc="-10" dirty="0">
                <a:latin typeface="Calibri"/>
                <a:cs typeface="Calibri"/>
              </a:rPr>
              <a:t>Accurate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genome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size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estimation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can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help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selecting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appropriate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sequencing strategies,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evaluating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quality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genome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assemblies,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predicting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gene </a:t>
            </a:r>
            <a:r>
              <a:rPr sz="2800" spc="-10" dirty="0">
                <a:latin typeface="Calibri"/>
                <a:cs typeface="Calibri"/>
              </a:rPr>
              <a:t>content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functional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potential.</a:t>
            </a:r>
            <a:endParaRPr sz="2800">
              <a:latin typeface="Calibri"/>
              <a:cs typeface="Calibri"/>
            </a:endParaRPr>
          </a:p>
          <a:p>
            <a:pPr marL="241300" marR="429259" indent="-228600">
              <a:lnSpc>
                <a:spcPts val="3120"/>
              </a:lnSpc>
              <a:spcBef>
                <a:spcPts val="885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Several</a:t>
            </a:r>
            <a:r>
              <a:rPr sz="2800" spc="-10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methods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are</a:t>
            </a:r>
            <a:r>
              <a:rPr sz="2800" spc="-10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available</a:t>
            </a:r>
            <a:r>
              <a:rPr sz="2800" spc="-10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for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genome</a:t>
            </a:r>
            <a:r>
              <a:rPr sz="2800" spc="-10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size</a:t>
            </a:r>
            <a:r>
              <a:rPr sz="2800" spc="-10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estimation,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including</a:t>
            </a:r>
            <a:r>
              <a:rPr sz="2800" spc="-105" dirty="0">
                <a:latin typeface="Calibri"/>
                <a:cs typeface="Calibri"/>
              </a:rPr>
              <a:t> </a:t>
            </a:r>
            <a:r>
              <a:rPr sz="2800" spc="-70" dirty="0">
                <a:latin typeface="Calibri"/>
                <a:cs typeface="Calibri"/>
              </a:rPr>
              <a:t>k-</a:t>
            </a:r>
            <a:r>
              <a:rPr sz="2800" spc="-20" dirty="0">
                <a:latin typeface="Calibri"/>
                <a:cs typeface="Calibri"/>
              </a:rPr>
              <a:t>mer- </a:t>
            </a:r>
            <a:r>
              <a:rPr sz="2800" dirty="0">
                <a:latin typeface="Calibri"/>
                <a:cs typeface="Calibri"/>
              </a:rPr>
              <a:t>based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approaches,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read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coverage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analysis,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mapping-</a:t>
            </a:r>
            <a:r>
              <a:rPr sz="2800" dirty="0">
                <a:latin typeface="Calibri"/>
                <a:cs typeface="Calibri"/>
              </a:rPr>
              <a:t>based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approaches.</a:t>
            </a:r>
            <a:endParaRPr sz="2800">
              <a:latin typeface="Calibri"/>
              <a:cs typeface="Calibri"/>
            </a:endParaRPr>
          </a:p>
          <a:p>
            <a:pPr marL="241300" marR="74295" indent="-228600">
              <a:lnSpc>
                <a:spcPts val="3000"/>
              </a:lnSpc>
              <a:spcBef>
                <a:spcPts val="960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spc="-35" dirty="0">
                <a:latin typeface="Calibri"/>
                <a:cs typeface="Calibri"/>
              </a:rPr>
              <a:t>K-</a:t>
            </a:r>
            <a:r>
              <a:rPr sz="2800" spc="-30" dirty="0">
                <a:latin typeface="Calibri"/>
                <a:cs typeface="Calibri"/>
              </a:rPr>
              <a:t>mer-</a:t>
            </a:r>
            <a:r>
              <a:rPr sz="2800" dirty="0">
                <a:latin typeface="Calibri"/>
                <a:cs typeface="Calibri"/>
              </a:rPr>
              <a:t>based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approaches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involve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counting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frequency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unique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85" dirty="0">
                <a:latin typeface="Calibri"/>
                <a:cs typeface="Calibri"/>
              </a:rPr>
              <a:t>k-</a:t>
            </a:r>
            <a:r>
              <a:rPr sz="2800" dirty="0">
                <a:latin typeface="Calibri"/>
                <a:cs typeface="Calibri"/>
              </a:rPr>
              <a:t>mers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50" dirty="0">
                <a:latin typeface="Calibri"/>
                <a:cs typeface="Calibri"/>
              </a:rPr>
              <a:t>a </a:t>
            </a:r>
            <a:r>
              <a:rPr sz="2800" dirty="0">
                <a:latin typeface="Calibri"/>
                <a:cs typeface="Calibri"/>
              </a:rPr>
              <a:t>sequencing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dataset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using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this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information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estimate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genome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size.</a:t>
            </a:r>
            <a:endParaRPr sz="2800">
              <a:latin typeface="Calibri"/>
              <a:cs typeface="Calibri"/>
            </a:endParaRPr>
          </a:p>
          <a:p>
            <a:pPr marL="241300" marR="5080" indent="-228600">
              <a:lnSpc>
                <a:spcPts val="3000"/>
              </a:lnSpc>
              <a:spcBef>
                <a:spcPts val="1010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Read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coverage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analysis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mapping-</a:t>
            </a:r>
            <a:r>
              <a:rPr sz="2800" dirty="0">
                <a:latin typeface="Calibri"/>
                <a:cs typeface="Calibri"/>
              </a:rPr>
              <a:t>based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approaches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involve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mapping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reads </a:t>
            </a:r>
            <a:r>
              <a:rPr sz="2800" dirty="0">
                <a:latin typeface="Calibri"/>
                <a:cs typeface="Calibri"/>
              </a:rPr>
              <a:t>back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assembly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calculating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coverage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depth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estimate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genome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size.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0913" y="405544"/>
            <a:ext cx="7098665" cy="68326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/>
              <a:t>Gap</a:t>
            </a:r>
            <a:r>
              <a:rPr spc="195" dirty="0"/>
              <a:t> </a:t>
            </a:r>
            <a:r>
              <a:rPr dirty="0"/>
              <a:t>filling</a:t>
            </a:r>
            <a:r>
              <a:rPr spc="200" dirty="0"/>
              <a:t> </a:t>
            </a:r>
            <a:r>
              <a:rPr dirty="0"/>
              <a:t>in</a:t>
            </a:r>
            <a:r>
              <a:rPr spc="200" dirty="0"/>
              <a:t> </a:t>
            </a:r>
            <a:r>
              <a:rPr dirty="0"/>
              <a:t>bacterial</a:t>
            </a:r>
            <a:r>
              <a:rPr spc="204" dirty="0"/>
              <a:t> </a:t>
            </a:r>
            <a:r>
              <a:rPr spc="-10" dirty="0"/>
              <a:t>assembly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67926" y="1314196"/>
            <a:ext cx="11485880" cy="5347618"/>
          </a:xfrm>
          <a:prstGeom prst="rect">
            <a:avLst/>
          </a:prstGeom>
        </p:spPr>
        <p:txBody>
          <a:bodyPr vert="horz" wrap="square" lIns="0" tIns="63500" rIns="0" bIns="0" rtlCol="0">
            <a:spAutoFit/>
          </a:bodyPr>
          <a:lstStyle/>
          <a:p>
            <a:pPr marL="240665" marR="295910" indent="-228600">
              <a:lnSpc>
                <a:spcPts val="3000"/>
              </a:lnSpc>
              <a:spcBef>
                <a:spcPts val="500"/>
              </a:spcBef>
              <a:buFont typeface="Arial MT"/>
              <a:buChar char="•"/>
              <a:tabLst>
                <a:tab pos="240665" algn="l"/>
              </a:tabLst>
            </a:pPr>
            <a:r>
              <a:rPr sz="2800" dirty="0">
                <a:latin typeface="Calibri"/>
                <a:cs typeface="Calibri"/>
              </a:rPr>
              <a:t>Gaps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bacterial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genome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assembly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refer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regions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where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sequence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is </a:t>
            </a:r>
            <a:r>
              <a:rPr sz="2800" dirty="0">
                <a:latin typeface="Calibri"/>
                <a:cs typeface="Calibri"/>
              </a:rPr>
              <a:t>missing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or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ambiguous.</a:t>
            </a:r>
            <a:endParaRPr sz="2800" dirty="0">
              <a:latin typeface="Calibri"/>
              <a:cs typeface="Calibri"/>
            </a:endParaRPr>
          </a:p>
          <a:p>
            <a:pPr marL="240665" marR="1132205" indent="-228600">
              <a:lnSpc>
                <a:spcPts val="3100"/>
              </a:lnSpc>
              <a:spcBef>
                <a:spcPts val="925"/>
              </a:spcBef>
              <a:buFont typeface="Arial MT"/>
              <a:buChar char="•"/>
              <a:tabLst>
                <a:tab pos="240665" algn="l"/>
              </a:tabLst>
            </a:pPr>
            <a:r>
              <a:rPr sz="2800" dirty="0">
                <a:latin typeface="Calibri"/>
                <a:cs typeface="Calibri"/>
              </a:rPr>
              <a:t>Gap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filling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is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process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resolving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these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regions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generate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more </a:t>
            </a:r>
            <a:r>
              <a:rPr sz="2800" dirty="0">
                <a:latin typeface="Calibri"/>
                <a:cs typeface="Calibri"/>
              </a:rPr>
              <a:t>complete</a:t>
            </a:r>
            <a:r>
              <a:rPr sz="2800" spc="-1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genome</a:t>
            </a:r>
            <a:r>
              <a:rPr sz="2800" spc="-12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assembly.</a:t>
            </a:r>
            <a:endParaRPr sz="2800" dirty="0">
              <a:latin typeface="Calibri"/>
              <a:cs typeface="Calibri"/>
            </a:endParaRPr>
          </a:p>
          <a:p>
            <a:pPr marL="240665" marR="615315" indent="-228600">
              <a:lnSpc>
                <a:spcPts val="3000"/>
              </a:lnSpc>
              <a:spcBef>
                <a:spcPts val="985"/>
              </a:spcBef>
              <a:buFont typeface="Arial MT"/>
              <a:buChar char="•"/>
              <a:tabLst>
                <a:tab pos="240665" algn="l"/>
              </a:tabLst>
            </a:pPr>
            <a:r>
              <a:rPr sz="2800" dirty="0">
                <a:latin typeface="Calibri"/>
                <a:cs typeface="Calibri"/>
              </a:rPr>
              <a:t>The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most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common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approach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for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gap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filling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is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use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additional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sequencing </a:t>
            </a:r>
            <a:r>
              <a:rPr sz="2800" dirty="0">
                <a:latin typeface="Calibri"/>
                <a:cs typeface="Calibri"/>
              </a:rPr>
              <a:t>data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(e.g.,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PacBio,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Nanopore)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that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can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span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across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gaps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provide </a:t>
            </a:r>
            <a:r>
              <a:rPr sz="2800" dirty="0">
                <a:latin typeface="Calibri"/>
                <a:cs typeface="Calibri"/>
              </a:rPr>
              <a:t>longer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reads.</a:t>
            </a:r>
            <a:endParaRPr sz="2800" dirty="0">
              <a:latin typeface="Calibri"/>
              <a:cs typeface="Calibri"/>
            </a:endParaRPr>
          </a:p>
          <a:p>
            <a:pPr marL="240665" marR="45085" indent="-228600">
              <a:lnSpc>
                <a:spcPts val="3000"/>
              </a:lnSpc>
              <a:spcBef>
                <a:spcPts val="1105"/>
              </a:spcBef>
              <a:buFont typeface="Arial MT"/>
              <a:buChar char="•"/>
              <a:tabLst>
                <a:tab pos="240665" algn="l"/>
              </a:tabLst>
            </a:pPr>
            <a:r>
              <a:rPr sz="2800" dirty="0">
                <a:latin typeface="Calibri"/>
                <a:cs typeface="Calibri"/>
              </a:rPr>
              <a:t>Other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gap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filling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methods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include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PCR-</a:t>
            </a:r>
            <a:r>
              <a:rPr sz="2800" dirty="0">
                <a:latin typeface="Calibri"/>
                <a:cs typeface="Calibri"/>
              </a:rPr>
              <a:t>based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approaches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or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using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information </a:t>
            </a:r>
            <a:r>
              <a:rPr sz="2800" dirty="0">
                <a:latin typeface="Calibri"/>
                <a:cs typeface="Calibri"/>
              </a:rPr>
              <a:t>from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related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genomes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infer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missing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sequence.</a:t>
            </a:r>
            <a:endParaRPr sz="2800" dirty="0">
              <a:latin typeface="Calibri"/>
              <a:cs typeface="Calibri"/>
            </a:endParaRPr>
          </a:p>
          <a:p>
            <a:pPr marL="240665" marR="5080" indent="-228600">
              <a:lnSpc>
                <a:spcPts val="3000"/>
              </a:lnSpc>
              <a:spcBef>
                <a:spcPts val="985"/>
              </a:spcBef>
              <a:buFont typeface="Arial MT"/>
              <a:buChar char="•"/>
              <a:tabLst>
                <a:tab pos="240665" algn="l"/>
              </a:tabLst>
            </a:pPr>
            <a:r>
              <a:rPr sz="2800" dirty="0">
                <a:latin typeface="Calibri"/>
                <a:cs typeface="Calibri"/>
              </a:rPr>
              <a:t>After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gap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filling,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it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is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important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perform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quality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checks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ensure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that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the </a:t>
            </a:r>
            <a:r>
              <a:rPr sz="2800" dirty="0">
                <a:latin typeface="Calibri"/>
                <a:cs typeface="Calibri"/>
              </a:rPr>
              <a:t>assembly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is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accurate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complete,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update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annotation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accordingly.</a:t>
            </a:r>
            <a:endParaRPr lang="en-US" sz="2800" spc="-10" dirty="0">
              <a:latin typeface="Calibri"/>
              <a:cs typeface="Calibri"/>
            </a:endParaRPr>
          </a:p>
          <a:p>
            <a:pPr marL="240665" marR="5080" indent="-228600">
              <a:lnSpc>
                <a:spcPts val="3000"/>
              </a:lnSpc>
              <a:spcBef>
                <a:spcPts val="985"/>
              </a:spcBef>
              <a:buFont typeface="Arial MT"/>
              <a:buChar char="•"/>
              <a:tabLst>
                <a:tab pos="240665" algn="l"/>
              </a:tabLst>
            </a:pPr>
            <a:r>
              <a:rPr lang="en-DK" sz="2800" spc="-10" dirty="0">
                <a:solidFill>
                  <a:srgbClr val="C00000"/>
                </a:solidFill>
                <a:latin typeface="Calibri"/>
                <a:cs typeface="Calibri"/>
              </a:rPr>
              <a:t>Hybrid Assembly</a:t>
            </a:r>
            <a:endParaRPr sz="2800" dirty="0">
              <a:solidFill>
                <a:srgbClr val="C00000"/>
              </a:solidFill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0478" y="250096"/>
            <a:ext cx="7897495" cy="68326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/>
              <a:t>Overview</a:t>
            </a:r>
            <a:r>
              <a:rPr spc="229" dirty="0"/>
              <a:t> </a:t>
            </a:r>
            <a:r>
              <a:rPr dirty="0"/>
              <a:t>of</a:t>
            </a:r>
            <a:r>
              <a:rPr spc="229" dirty="0"/>
              <a:t> </a:t>
            </a:r>
            <a:r>
              <a:rPr dirty="0"/>
              <a:t>some</a:t>
            </a:r>
            <a:r>
              <a:rPr spc="229" dirty="0"/>
              <a:t> </a:t>
            </a:r>
            <a:r>
              <a:rPr dirty="0"/>
              <a:t>annotation</a:t>
            </a:r>
            <a:r>
              <a:rPr spc="229" dirty="0"/>
              <a:t> </a:t>
            </a:r>
            <a:r>
              <a:rPr spc="-10" dirty="0"/>
              <a:t>tools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36394" y="1083564"/>
            <a:ext cx="11494135" cy="1665605"/>
          </a:xfrm>
          <a:prstGeom prst="rect">
            <a:avLst/>
          </a:prstGeom>
        </p:spPr>
        <p:txBody>
          <a:bodyPr vert="horz" wrap="square" lIns="0" tIns="128270" rIns="0" bIns="0" rtlCol="0">
            <a:spAutoFit/>
          </a:bodyPr>
          <a:lstStyle/>
          <a:p>
            <a:pPr marL="241300" marR="5080" indent="-228600">
              <a:lnSpc>
                <a:spcPct val="70800"/>
              </a:lnSpc>
              <a:spcBef>
                <a:spcPts val="1010"/>
              </a:spcBef>
              <a:buFont typeface="Arial MT"/>
              <a:buChar char="•"/>
              <a:tabLst>
                <a:tab pos="241300" algn="l"/>
              </a:tabLst>
            </a:pPr>
            <a:r>
              <a:rPr sz="2600" b="1" spc="-10" dirty="0">
                <a:latin typeface="Calibri"/>
                <a:cs typeface="Calibri"/>
              </a:rPr>
              <a:t>Prokka:</a:t>
            </a:r>
            <a:r>
              <a:rPr sz="2600" b="1" spc="-7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rapid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and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simple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annotation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pipeline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for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prokaryotic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genomes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that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uses </a:t>
            </a:r>
            <a:r>
              <a:rPr sz="2600" dirty="0">
                <a:latin typeface="Calibri"/>
                <a:cs typeface="Calibri"/>
              </a:rPr>
              <a:t>various</a:t>
            </a:r>
            <a:r>
              <a:rPr sz="2600" spc="-9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tools</a:t>
            </a:r>
            <a:r>
              <a:rPr sz="2600" spc="-8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for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gene</a:t>
            </a:r>
            <a:r>
              <a:rPr sz="2600" spc="-8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prediction,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functional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annotation,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and</a:t>
            </a:r>
            <a:r>
              <a:rPr sz="2600" spc="-8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comparative</a:t>
            </a:r>
            <a:r>
              <a:rPr sz="2600" spc="-8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genomics.</a:t>
            </a:r>
            <a:endParaRPr sz="2600">
              <a:latin typeface="Calibri"/>
              <a:cs typeface="Calibri"/>
            </a:endParaRPr>
          </a:p>
          <a:p>
            <a:pPr marL="241300" indent="-228600">
              <a:lnSpc>
                <a:spcPts val="2665"/>
              </a:lnSpc>
              <a:spcBef>
                <a:spcPts val="70"/>
              </a:spcBef>
              <a:buFont typeface="Arial MT"/>
              <a:buChar char="•"/>
              <a:tabLst>
                <a:tab pos="241300" algn="l"/>
              </a:tabLst>
            </a:pPr>
            <a:r>
              <a:rPr sz="2600" b="1" spc="-10" dirty="0">
                <a:latin typeface="Calibri"/>
                <a:cs typeface="Calibri"/>
              </a:rPr>
              <a:t>RAST:</a:t>
            </a:r>
            <a:r>
              <a:rPr sz="2600" b="1" spc="-8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spc="-25" dirty="0">
                <a:latin typeface="Calibri"/>
                <a:cs typeface="Calibri"/>
              </a:rPr>
              <a:t>web-</a:t>
            </a:r>
            <a:r>
              <a:rPr sz="2600" dirty="0">
                <a:latin typeface="Calibri"/>
                <a:cs typeface="Calibri"/>
              </a:rPr>
              <a:t>based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annotation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server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for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bacterial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and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archaeal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genomes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that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uses</a:t>
            </a:r>
            <a:endParaRPr sz="2600">
              <a:latin typeface="Calibri"/>
              <a:cs typeface="Calibri"/>
            </a:endParaRPr>
          </a:p>
          <a:p>
            <a:pPr marL="241300" marR="443865">
              <a:lnSpc>
                <a:spcPct val="70000"/>
              </a:lnSpc>
              <a:spcBef>
                <a:spcPts val="480"/>
              </a:spcBef>
            </a:pPr>
            <a:r>
              <a:rPr sz="2600" dirty="0">
                <a:latin typeface="Calibri"/>
                <a:cs typeface="Calibri"/>
              </a:rPr>
              <a:t>various</a:t>
            </a:r>
            <a:r>
              <a:rPr sz="2600" spc="-8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tools</a:t>
            </a:r>
            <a:r>
              <a:rPr sz="2600" spc="-8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for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gene</a:t>
            </a:r>
            <a:r>
              <a:rPr sz="2600" spc="-9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calling,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functional</a:t>
            </a:r>
            <a:r>
              <a:rPr sz="2600" spc="-8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annotation,</a:t>
            </a:r>
            <a:r>
              <a:rPr sz="2600" spc="-8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metabolic</a:t>
            </a:r>
            <a:r>
              <a:rPr sz="2600" spc="-8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pathway</a:t>
            </a:r>
            <a:r>
              <a:rPr sz="2600" spc="-8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analysis, </a:t>
            </a:r>
            <a:r>
              <a:rPr sz="2600" dirty="0">
                <a:latin typeface="Calibri"/>
                <a:cs typeface="Calibri"/>
              </a:rPr>
              <a:t>and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comparative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genomics.</a:t>
            </a:r>
            <a:endParaRPr sz="26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36394" y="2735580"/>
            <a:ext cx="10644505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41300" algn="l"/>
              </a:tabLst>
            </a:pPr>
            <a:r>
              <a:rPr sz="2600" b="1" dirty="0">
                <a:latin typeface="Calibri"/>
                <a:cs typeface="Calibri"/>
              </a:rPr>
              <a:t>NCBI</a:t>
            </a:r>
            <a:r>
              <a:rPr sz="2600" b="1" spc="-70" dirty="0">
                <a:latin typeface="Calibri"/>
                <a:cs typeface="Calibri"/>
              </a:rPr>
              <a:t> </a:t>
            </a:r>
            <a:r>
              <a:rPr sz="2600" b="1" dirty="0">
                <a:latin typeface="Calibri"/>
                <a:cs typeface="Calibri"/>
              </a:rPr>
              <a:t>PGAP:</a:t>
            </a:r>
            <a:r>
              <a:rPr sz="2600" b="1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the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NCBI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prokaryotic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genome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annotation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pipeline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that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provides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spc="-50" dirty="0">
                <a:latin typeface="Calibri"/>
                <a:cs typeface="Calibri"/>
              </a:rPr>
              <a:t>a</a:t>
            </a:r>
            <a:endParaRPr sz="26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64995" y="3000756"/>
            <a:ext cx="10440670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00" spc="-10" dirty="0">
                <a:latin typeface="Calibri"/>
                <a:cs typeface="Calibri"/>
              </a:rPr>
              <a:t>comprehensive</a:t>
            </a:r>
            <a:r>
              <a:rPr sz="2600" spc="-8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annotation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of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prokaryotic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genomes,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including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identification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spc="-25" dirty="0">
                <a:latin typeface="Calibri"/>
                <a:cs typeface="Calibri"/>
              </a:rPr>
              <a:t>of</a:t>
            </a:r>
            <a:endParaRPr sz="26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36394" y="3281172"/>
            <a:ext cx="11198225" cy="15132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>
              <a:lnSpc>
                <a:spcPct val="100000"/>
              </a:lnSpc>
              <a:spcBef>
                <a:spcPts val="100"/>
              </a:spcBef>
            </a:pPr>
            <a:r>
              <a:rPr sz="2600" dirty="0">
                <a:latin typeface="Calibri"/>
                <a:cs typeface="Calibri"/>
              </a:rPr>
              <a:t>genes,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functional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annotation,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and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comparative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analysis.</a:t>
            </a:r>
            <a:endParaRPr sz="2600">
              <a:latin typeface="Calibri"/>
              <a:cs typeface="Calibri"/>
            </a:endParaRPr>
          </a:p>
          <a:p>
            <a:pPr marL="241300" marR="5080" indent="-228600">
              <a:lnSpc>
                <a:spcPct val="70800"/>
              </a:lnSpc>
              <a:spcBef>
                <a:spcPts val="980"/>
              </a:spcBef>
              <a:buFont typeface="Arial MT"/>
              <a:buChar char="•"/>
              <a:tabLst>
                <a:tab pos="241300" algn="l"/>
              </a:tabLst>
            </a:pPr>
            <a:r>
              <a:rPr sz="2600" b="1" spc="-10" dirty="0">
                <a:latin typeface="Calibri"/>
                <a:cs typeface="Calibri"/>
              </a:rPr>
              <a:t>BASys:</a:t>
            </a:r>
            <a:r>
              <a:rPr sz="2600" b="1" spc="-8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web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server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that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provides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automated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annotation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of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bacterial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genomes, </a:t>
            </a:r>
            <a:r>
              <a:rPr sz="2600" dirty="0">
                <a:latin typeface="Calibri"/>
                <a:cs typeface="Calibri"/>
              </a:rPr>
              <a:t>including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identification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of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genes,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functional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annotation,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and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comparative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analysis.</a:t>
            </a:r>
            <a:endParaRPr sz="26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75"/>
              </a:spcBef>
              <a:buFont typeface="Arial MT"/>
              <a:buChar char="•"/>
              <a:tabLst>
                <a:tab pos="241300" algn="l"/>
              </a:tabLst>
            </a:pPr>
            <a:r>
              <a:rPr sz="2600" b="1" spc="-10" dirty="0">
                <a:latin typeface="Calibri"/>
                <a:cs typeface="Calibri"/>
              </a:rPr>
              <a:t>IMG-</a:t>
            </a:r>
            <a:r>
              <a:rPr sz="2600" b="1" dirty="0">
                <a:latin typeface="Calibri"/>
                <a:cs typeface="Calibri"/>
              </a:rPr>
              <a:t>ER:</a:t>
            </a:r>
            <a:r>
              <a:rPr sz="2600" b="1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spc="-25" dirty="0">
                <a:latin typeface="Calibri"/>
                <a:cs typeface="Calibri"/>
              </a:rPr>
              <a:t>web-</a:t>
            </a:r>
            <a:r>
              <a:rPr sz="2600" dirty="0">
                <a:latin typeface="Calibri"/>
                <a:cs typeface="Calibri"/>
              </a:rPr>
              <a:t>based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system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for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microbial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genome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annotation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that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includes</a:t>
            </a:r>
            <a:endParaRPr sz="26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64995" y="4652772"/>
            <a:ext cx="11039475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00" dirty="0">
                <a:latin typeface="Calibri"/>
                <a:cs typeface="Calibri"/>
              </a:rPr>
              <a:t>various</a:t>
            </a:r>
            <a:r>
              <a:rPr sz="2600" spc="-9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tools</a:t>
            </a:r>
            <a:r>
              <a:rPr sz="2600" spc="-8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for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gene</a:t>
            </a:r>
            <a:r>
              <a:rPr sz="2600" spc="-9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prediction,</a:t>
            </a:r>
            <a:r>
              <a:rPr sz="2600" spc="-8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functional</a:t>
            </a:r>
            <a:r>
              <a:rPr sz="2600" spc="-8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annotation,</a:t>
            </a:r>
            <a:r>
              <a:rPr sz="2600" spc="-8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comparative</a:t>
            </a:r>
            <a:r>
              <a:rPr sz="2600" spc="-9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analysis,</a:t>
            </a:r>
            <a:r>
              <a:rPr sz="2600" spc="-85" dirty="0">
                <a:latin typeface="Calibri"/>
                <a:cs typeface="Calibri"/>
              </a:rPr>
              <a:t> </a:t>
            </a:r>
            <a:r>
              <a:rPr sz="2600" spc="-25" dirty="0">
                <a:latin typeface="Calibri"/>
                <a:cs typeface="Calibri"/>
              </a:rPr>
              <a:t>and</a:t>
            </a:r>
            <a:endParaRPr sz="26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64995" y="4917948"/>
            <a:ext cx="2251075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00" dirty="0">
                <a:latin typeface="Calibri"/>
                <a:cs typeface="Calibri"/>
              </a:rPr>
              <a:t>data</a:t>
            </a:r>
            <a:r>
              <a:rPr sz="2600" spc="-9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integration.</a:t>
            </a:r>
            <a:endParaRPr sz="26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36394" y="5326380"/>
            <a:ext cx="11195050" cy="9798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indent="-228600">
              <a:lnSpc>
                <a:spcPts val="2650"/>
              </a:lnSpc>
              <a:spcBef>
                <a:spcPts val="100"/>
              </a:spcBef>
              <a:buFont typeface="Arial MT"/>
              <a:buChar char="•"/>
              <a:tabLst>
                <a:tab pos="241300" algn="l"/>
              </a:tabLst>
            </a:pPr>
            <a:r>
              <a:rPr sz="2600" b="1" spc="-70" dirty="0">
                <a:latin typeface="Calibri"/>
                <a:cs typeface="Calibri"/>
              </a:rPr>
              <a:t>BV-</a:t>
            </a:r>
            <a:r>
              <a:rPr sz="2600" b="1" dirty="0">
                <a:latin typeface="Calibri"/>
                <a:cs typeface="Calibri"/>
              </a:rPr>
              <a:t>BRC</a:t>
            </a:r>
            <a:r>
              <a:rPr sz="2600" b="1" spc="-75" dirty="0">
                <a:latin typeface="Calibri"/>
                <a:cs typeface="Calibri"/>
              </a:rPr>
              <a:t> </a:t>
            </a:r>
            <a:r>
              <a:rPr sz="2600" b="1" dirty="0">
                <a:latin typeface="Calibri"/>
                <a:cs typeface="Calibri"/>
              </a:rPr>
              <a:t>(formally</a:t>
            </a:r>
            <a:r>
              <a:rPr sz="2600" b="1" spc="-60" dirty="0">
                <a:latin typeface="Calibri"/>
                <a:cs typeface="Calibri"/>
              </a:rPr>
              <a:t> </a:t>
            </a:r>
            <a:r>
              <a:rPr sz="2600" b="1" dirty="0">
                <a:latin typeface="Calibri"/>
                <a:cs typeface="Calibri"/>
              </a:rPr>
              <a:t>called</a:t>
            </a:r>
            <a:r>
              <a:rPr sz="2600" b="1" spc="-65" dirty="0">
                <a:latin typeface="Calibri"/>
                <a:cs typeface="Calibri"/>
              </a:rPr>
              <a:t> </a:t>
            </a:r>
            <a:r>
              <a:rPr sz="2600" b="1" spc="-45" dirty="0">
                <a:latin typeface="Calibri"/>
                <a:cs typeface="Calibri"/>
              </a:rPr>
              <a:t>PATRIC):</a:t>
            </a:r>
            <a:r>
              <a:rPr sz="2600" b="1" spc="-7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spc="-25" dirty="0">
                <a:latin typeface="Calibri"/>
                <a:cs typeface="Calibri"/>
              </a:rPr>
              <a:t>web-</a:t>
            </a:r>
            <a:r>
              <a:rPr sz="2600" dirty="0">
                <a:latin typeface="Calibri"/>
                <a:cs typeface="Calibri"/>
              </a:rPr>
              <a:t>based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annotation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server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for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bacterial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spc="-25" dirty="0">
                <a:latin typeface="Calibri"/>
                <a:cs typeface="Calibri"/>
              </a:rPr>
              <a:t>and</a:t>
            </a:r>
            <a:endParaRPr sz="2600">
              <a:latin typeface="Calibri"/>
              <a:cs typeface="Calibri"/>
            </a:endParaRPr>
          </a:p>
          <a:p>
            <a:pPr marL="241300" marR="668020">
              <a:lnSpc>
                <a:spcPct val="70800"/>
              </a:lnSpc>
              <a:spcBef>
                <a:spcPts val="440"/>
              </a:spcBef>
            </a:pPr>
            <a:r>
              <a:rPr sz="2600" dirty="0">
                <a:latin typeface="Calibri"/>
                <a:cs typeface="Calibri"/>
              </a:rPr>
              <a:t>virus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genomes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that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uses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various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tools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for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gene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calling,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functional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annotation, </a:t>
            </a:r>
            <a:r>
              <a:rPr sz="2600" dirty="0">
                <a:latin typeface="Calibri"/>
                <a:cs typeface="Calibri"/>
              </a:rPr>
              <a:t>metabolic</a:t>
            </a:r>
            <a:r>
              <a:rPr sz="2600" spc="-9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pathway</a:t>
            </a:r>
            <a:r>
              <a:rPr sz="2600" spc="-9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analysis,</a:t>
            </a:r>
            <a:r>
              <a:rPr sz="2600" spc="-9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and</a:t>
            </a:r>
            <a:r>
              <a:rPr sz="2600" spc="-9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comparative</a:t>
            </a:r>
            <a:r>
              <a:rPr sz="2600" spc="-10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genomics.</a:t>
            </a:r>
            <a:endParaRPr sz="2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9933" y="311056"/>
            <a:ext cx="11084560" cy="68326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/>
              <a:t>Benefits</a:t>
            </a:r>
            <a:r>
              <a:rPr spc="220" dirty="0"/>
              <a:t> </a:t>
            </a:r>
            <a:r>
              <a:rPr dirty="0"/>
              <a:t>and</a:t>
            </a:r>
            <a:r>
              <a:rPr spc="229" dirty="0"/>
              <a:t> </a:t>
            </a:r>
            <a:r>
              <a:rPr dirty="0"/>
              <a:t>limitations</a:t>
            </a:r>
            <a:r>
              <a:rPr spc="225" dirty="0"/>
              <a:t> </a:t>
            </a:r>
            <a:r>
              <a:rPr dirty="0"/>
              <a:t>of</a:t>
            </a:r>
            <a:r>
              <a:rPr spc="225" dirty="0"/>
              <a:t> </a:t>
            </a:r>
            <a:r>
              <a:rPr dirty="0"/>
              <a:t>automated</a:t>
            </a:r>
            <a:r>
              <a:rPr spc="229" dirty="0"/>
              <a:t> </a:t>
            </a:r>
            <a:r>
              <a:rPr spc="-10" dirty="0"/>
              <a:t>annotation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69933" y="1175003"/>
            <a:ext cx="11537950" cy="5210175"/>
          </a:xfrm>
          <a:prstGeom prst="rect">
            <a:avLst/>
          </a:prstGeom>
        </p:spPr>
        <p:txBody>
          <a:bodyPr vert="horz" wrap="square" lIns="0" tIns="57150" rIns="0" bIns="0" rtlCol="0">
            <a:spAutoFit/>
          </a:bodyPr>
          <a:lstStyle/>
          <a:p>
            <a:pPr marL="240665" marR="63500" indent="-228600" algn="just">
              <a:lnSpc>
                <a:spcPts val="2810"/>
              </a:lnSpc>
              <a:spcBef>
                <a:spcPts val="450"/>
              </a:spcBef>
              <a:buFont typeface="Arial MT"/>
              <a:buChar char="•"/>
              <a:tabLst>
                <a:tab pos="240665" algn="l"/>
              </a:tabLst>
            </a:pPr>
            <a:r>
              <a:rPr sz="2600" dirty="0">
                <a:latin typeface="Calibri"/>
                <a:cs typeface="Calibri"/>
              </a:rPr>
              <a:t>Benefits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of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automated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annotation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tools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include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speed,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spc="-25" dirty="0">
                <a:latin typeface="Calibri"/>
                <a:cs typeface="Calibri"/>
              </a:rPr>
              <a:t>efficiency,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and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consistency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spc="-25" dirty="0">
                <a:latin typeface="Calibri"/>
                <a:cs typeface="Calibri"/>
              </a:rPr>
              <a:t>in </a:t>
            </a:r>
            <a:r>
              <a:rPr sz="2600" spc="-10" dirty="0">
                <a:latin typeface="Calibri"/>
                <a:cs typeface="Calibri"/>
              </a:rPr>
              <a:t>annotation,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as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well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as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the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ability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to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annotate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large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datasets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quickly.</a:t>
            </a:r>
            <a:endParaRPr sz="2600">
              <a:latin typeface="Calibri"/>
              <a:cs typeface="Calibri"/>
            </a:endParaRPr>
          </a:p>
          <a:p>
            <a:pPr marL="240665" marR="11430" indent="-228600" algn="just">
              <a:lnSpc>
                <a:spcPct val="91200"/>
              </a:lnSpc>
              <a:spcBef>
                <a:spcPts val="905"/>
              </a:spcBef>
              <a:buFont typeface="Arial MT"/>
              <a:buChar char="•"/>
              <a:tabLst>
                <a:tab pos="240665" algn="l"/>
              </a:tabLst>
            </a:pPr>
            <a:r>
              <a:rPr sz="2600" dirty="0">
                <a:latin typeface="Calibri"/>
                <a:cs typeface="Calibri"/>
              </a:rPr>
              <a:t>Automated</a:t>
            </a:r>
            <a:r>
              <a:rPr sz="2600" spc="-9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annotation</a:t>
            </a:r>
            <a:r>
              <a:rPr sz="2600" spc="-9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tools</a:t>
            </a:r>
            <a:r>
              <a:rPr sz="2600" spc="-9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use</a:t>
            </a:r>
            <a:r>
              <a:rPr sz="2600" spc="-9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existing</a:t>
            </a:r>
            <a:r>
              <a:rPr sz="2600" spc="-8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databases</a:t>
            </a:r>
            <a:r>
              <a:rPr sz="2600" spc="-9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and</a:t>
            </a:r>
            <a:r>
              <a:rPr sz="2600" spc="-9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algorithms</a:t>
            </a:r>
            <a:r>
              <a:rPr sz="2600" spc="-8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to</a:t>
            </a:r>
            <a:r>
              <a:rPr sz="2600" spc="-8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predict</a:t>
            </a:r>
            <a:r>
              <a:rPr sz="2600" spc="-8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genes, </a:t>
            </a:r>
            <a:r>
              <a:rPr sz="2600" dirty="0">
                <a:latin typeface="Calibri"/>
                <a:cs typeface="Calibri"/>
              </a:rPr>
              <a:t>functions,</a:t>
            </a:r>
            <a:r>
              <a:rPr sz="2600" spc="-8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and</a:t>
            </a:r>
            <a:r>
              <a:rPr sz="2600" spc="-8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pathways,</a:t>
            </a:r>
            <a:r>
              <a:rPr sz="2600" spc="-8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and</a:t>
            </a:r>
            <a:r>
              <a:rPr sz="2600" spc="-8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can</a:t>
            </a:r>
            <a:r>
              <a:rPr sz="2600" spc="-8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provide</a:t>
            </a:r>
            <a:r>
              <a:rPr sz="2600" spc="-9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insights</a:t>
            </a:r>
            <a:r>
              <a:rPr sz="2600" spc="-8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into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potential</a:t>
            </a:r>
            <a:r>
              <a:rPr sz="2600" spc="-8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biological</a:t>
            </a:r>
            <a:r>
              <a:rPr sz="2600" spc="-8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processes </a:t>
            </a:r>
            <a:r>
              <a:rPr sz="2600" dirty="0">
                <a:latin typeface="Calibri"/>
                <a:cs typeface="Calibri"/>
              </a:rPr>
              <a:t>and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pathways.</a:t>
            </a:r>
            <a:endParaRPr sz="2600">
              <a:latin typeface="Calibri"/>
              <a:cs typeface="Calibri"/>
            </a:endParaRPr>
          </a:p>
          <a:p>
            <a:pPr marL="240665" marR="125095" indent="-228600" algn="just">
              <a:lnSpc>
                <a:spcPts val="2780"/>
              </a:lnSpc>
              <a:spcBef>
                <a:spcPts val="1070"/>
              </a:spcBef>
              <a:buFont typeface="Arial MT"/>
              <a:buChar char="•"/>
              <a:tabLst>
                <a:tab pos="240665" algn="l"/>
              </a:tabLst>
            </a:pPr>
            <a:r>
              <a:rPr sz="2600" dirty="0">
                <a:latin typeface="Calibri"/>
                <a:cs typeface="Calibri"/>
              </a:rPr>
              <a:t>Automated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annotation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can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be</a:t>
            </a:r>
            <a:r>
              <a:rPr sz="2600" spc="-8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particularly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useful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for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initial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annotation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of</a:t>
            </a:r>
            <a:r>
              <a:rPr sz="2600" spc="-8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genome, </a:t>
            </a:r>
            <a:r>
              <a:rPr sz="2600" dirty="0">
                <a:latin typeface="Calibri"/>
                <a:cs typeface="Calibri"/>
              </a:rPr>
              <a:t>providing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good</a:t>
            </a:r>
            <a:r>
              <a:rPr sz="2600" spc="-8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starting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point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for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further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manual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curation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and</a:t>
            </a:r>
            <a:r>
              <a:rPr sz="2600" spc="-8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refinement.</a:t>
            </a:r>
            <a:endParaRPr sz="2600">
              <a:latin typeface="Calibri"/>
              <a:cs typeface="Calibri"/>
            </a:endParaRPr>
          </a:p>
          <a:p>
            <a:pPr marL="240665" marR="5080" indent="-228600">
              <a:lnSpc>
                <a:spcPct val="89600"/>
              </a:lnSpc>
              <a:spcBef>
                <a:spcPts val="990"/>
              </a:spcBef>
              <a:buFont typeface="Arial MT"/>
              <a:buChar char="•"/>
              <a:tabLst>
                <a:tab pos="240665" algn="l"/>
              </a:tabLst>
            </a:pPr>
            <a:r>
              <a:rPr sz="2600" dirty="0">
                <a:latin typeface="Calibri"/>
                <a:cs typeface="Calibri"/>
              </a:rPr>
              <a:t>Limitations</a:t>
            </a:r>
            <a:r>
              <a:rPr sz="2600" spc="-8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of</a:t>
            </a:r>
            <a:r>
              <a:rPr sz="2600" spc="-8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automated</a:t>
            </a:r>
            <a:r>
              <a:rPr sz="2600" spc="-8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annotation</a:t>
            </a:r>
            <a:r>
              <a:rPr sz="2600" spc="-8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tools</a:t>
            </a:r>
            <a:r>
              <a:rPr sz="2600" spc="-8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include</a:t>
            </a:r>
            <a:r>
              <a:rPr sz="2600" spc="-8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potential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errors</a:t>
            </a:r>
            <a:r>
              <a:rPr sz="2600" spc="-8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or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inaccuracies</a:t>
            </a:r>
            <a:r>
              <a:rPr sz="2600" spc="-80" dirty="0">
                <a:latin typeface="Calibri"/>
                <a:cs typeface="Calibri"/>
              </a:rPr>
              <a:t> </a:t>
            </a:r>
            <a:r>
              <a:rPr sz="2600" spc="-25" dirty="0">
                <a:latin typeface="Calibri"/>
                <a:cs typeface="Calibri"/>
              </a:rPr>
              <a:t>in </a:t>
            </a:r>
            <a:r>
              <a:rPr sz="2600" dirty="0">
                <a:latin typeface="Calibri"/>
                <a:cs typeface="Calibri"/>
              </a:rPr>
              <a:t>gene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prediction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and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functional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annotation,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as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well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as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the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lack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of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spc="-40" dirty="0">
                <a:latin typeface="Calibri"/>
                <a:cs typeface="Calibri"/>
              </a:rPr>
              <a:t>context-</a:t>
            </a:r>
            <a:r>
              <a:rPr sz="2600" spc="-10" dirty="0">
                <a:latin typeface="Calibri"/>
                <a:cs typeface="Calibri"/>
              </a:rPr>
              <a:t>specific information.</a:t>
            </a:r>
            <a:endParaRPr sz="2600">
              <a:latin typeface="Calibri"/>
              <a:cs typeface="Calibri"/>
            </a:endParaRPr>
          </a:p>
          <a:p>
            <a:pPr marL="240665" marR="59055" indent="-228600">
              <a:lnSpc>
                <a:spcPts val="2810"/>
              </a:lnSpc>
              <a:spcBef>
                <a:spcPts val="1025"/>
              </a:spcBef>
              <a:buFont typeface="Arial MT"/>
              <a:buChar char="•"/>
              <a:tabLst>
                <a:tab pos="240665" algn="l"/>
              </a:tabLst>
            </a:pPr>
            <a:r>
              <a:rPr sz="2600" dirty="0">
                <a:latin typeface="Calibri"/>
                <a:cs typeface="Calibri"/>
              </a:rPr>
              <a:t>The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use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of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automated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annotation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should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always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be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complemented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with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manual curation,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validation,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and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refinement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to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ensure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accuracy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and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reliability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of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the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results, </a:t>
            </a:r>
            <a:r>
              <a:rPr sz="2600" dirty="0">
                <a:latin typeface="Calibri"/>
                <a:cs typeface="Calibri"/>
              </a:rPr>
              <a:t>especially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when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using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the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annotations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for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downstream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analysis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or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interpretation.</a:t>
            </a:r>
            <a:endParaRPr sz="2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62025" rIns="0" bIns="0" rtlCol="0">
            <a:spAutoFit/>
          </a:bodyPr>
          <a:lstStyle/>
          <a:p>
            <a:pPr marL="55880">
              <a:lnSpc>
                <a:spcPct val="100000"/>
              </a:lnSpc>
              <a:spcBef>
                <a:spcPts val="110"/>
              </a:spcBef>
            </a:pPr>
            <a:r>
              <a:rPr dirty="0"/>
              <a:t>Quality</a:t>
            </a:r>
            <a:r>
              <a:rPr spc="190" dirty="0"/>
              <a:t> </a:t>
            </a:r>
            <a:r>
              <a:rPr dirty="0"/>
              <a:t>checks</a:t>
            </a:r>
            <a:r>
              <a:rPr spc="195" dirty="0"/>
              <a:t> </a:t>
            </a:r>
            <a:r>
              <a:rPr dirty="0"/>
              <a:t>for</a:t>
            </a:r>
            <a:r>
              <a:rPr spc="204" dirty="0"/>
              <a:t> </a:t>
            </a:r>
            <a:r>
              <a:rPr dirty="0"/>
              <a:t>bacterial</a:t>
            </a:r>
            <a:r>
              <a:rPr spc="195" dirty="0"/>
              <a:t> </a:t>
            </a:r>
            <a:r>
              <a:rPr spc="-10" dirty="0"/>
              <a:t>annotations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61373" y="1635252"/>
            <a:ext cx="11312525" cy="4725670"/>
          </a:xfrm>
          <a:prstGeom prst="rect">
            <a:avLst/>
          </a:prstGeom>
        </p:spPr>
        <p:txBody>
          <a:bodyPr vert="horz" wrap="square" lIns="0" tIns="91440" rIns="0" bIns="0" rtlCol="0">
            <a:spAutoFit/>
          </a:bodyPr>
          <a:lstStyle/>
          <a:p>
            <a:pPr marL="240665" marR="5080" indent="-228600">
              <a:lnSpc>
                <a:spcPct val="80000"/>
              </a:lnSpc>
              <a:spcBef>
                <a:spcPts val="720"/>
              </a:spcBef>
              <a:buFont typeface="Arial MT"/>
              <a:buChar char="•"/>
              <a:tabLst>
                <a:tab pos="240665" algn="l"/>
              </a:tabLst>
            </a:pPr>
            <a:r>
              <a:rPr sz="2600" dirty="0">
                <a:latin typeface="Calibri"/>
                <a:cs typeface="Calibri"/>
              </a:rPr>
              <a:t>Quality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checks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are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essential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for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ensuring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the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accuracy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and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completeness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spc="-25" dirty="0">
                <a:latin typeface="Calibri"/>
                <a:cs typeface="Calibri"/>
              </a:rPr>
              <a:t>of </a:t>
            </a:r>
            <a:r>
              <a:rPr sz="2600" dirty="0">
                <a:latin typeface="Calibri"/>
                <a:cs typeface="Calibri"/>
              </a:rPr>
              <a:t>bacterial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annotations,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as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small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errors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or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omissions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can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have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significant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impact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spc="-25" dirty="0">
                <a:latin typeface="Calibri"/>
                <a:cs typeface="Calibri"/>
              </a:rPr>
              <a:t>on </a:t>
            </a:r>
            <a:r>
              <a:rPr sz="2600" spc="-10" dirty="0">
                <a:latin typeface="Calibri"/>
                <a:cs typeface="Calibri"/>
              </a:rPr>
              <a:t>downstream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analyses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and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interpretations.</a:t>
            </a:r>
            <a:endParaRPr sz="2600">
              <a:latin typeface="Calibri"/>
              <a:cs typeface="Calibri"/>
            </a:endParaRPr>
          </a:p>
          <a:p>
            <a:pPr marL="240665" marR="122555" indent="-228600">
              <a:lnSpc>
                <a:spcPct val="80000"/>
              </a:lnSpc>
              <a:spcBef>
                <a:spcPts val="1010"/>
              </a:spcBef>
              <a:buFont typeface="Arial MT"/>
              <a:buChar char="•"/>
              <a:tabLst>
                <a:tab pos="240665" algn="l"/>
              </a:tabLst>
            </a:pPr>
            <a:r>
              <a:rPr sz="2600" dirty="0">
                <a:latin typeface="Calibri"/>
                <a:cs typeface="Calibri"/>
              </a:rPr>
              <a:t>Common</a:t>
            </a:r>
            <a:r>
              <a:rPr sz="2600" spc="-8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quality</a:t>
            </a:r>
            <a:r>
              <a:rPr sz="2600" spc="-8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checks</a:t>
            </a:r>
            <a:r>
              <a:rPr sz="2600" spc="-8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for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bacterial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annotations</a:t>
            </a:r>
            <a:r>
              <a:rPr sz="2600" spc="-8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include</a:t>
            </a:r>
            <a:r>
              <a:rPr sz="2600" spc="-8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assessing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completeness, </a:t>
            </a:r>
            <a:r>
              <a:rPr sz="2600" spc="-25" dirty="0">
                <a:latin typeface="Calibri"/>
                <a:cs typeface="Calibri"/>
              </a:rPr>
              <a:t>accuracy,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spc="-25" dirty="0">
                <a:latin typeface="Calibri"/>
                <a:cs typeface="Calibri"/>
              </a:rPr>
              <a:t>consistency,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and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comprehensiveness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of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the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annotation,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as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well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spc="-25" dirty="0">
                <a:latin typeface="Calibri"/>
                <a:cs typeface="Calibri"/>
              </a:rPr>
              <a:t>as </a:t>
            </a:r>
            <a:r>
              <a:rPr sz="2600" dirty="0">
                <a:latin typeface="Calibri"/>
                <a:cs typeface="Calibri"/>
              </a:rPr>
              <a:t>checking</a:t>
            </a:r>
            <a:r>
              <a:rPr sz="2600" spc="-8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for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potential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contamination</a:t>
            </a:r>
            <a:r>
              <a:rPr sz="2600" spc="-8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or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misannotation.</a:t>
            </a:r>
            <a:endParaRPr sz="2600">
              <a:latin typeface="Calibri"/>
              <a:cs typeface="Calibri"/>
            </a:endParaRPr>
          </a:p>
          <a:p>
            <a:pPr marL="240665" marR="253365" indent="-228600">
              <a:lnSpc>
                <a:spcPct val="80000"/>
              </a:lnSpc>
              <a:spcBef>
                <a:spcPts val="915"/>
              </a:spcBef>
              <a:buFont typeface="Arial MT"/>
              <a:buChar char="•"/>
              <a:tabLst>
                <a:tab pos="240665" algn="l"/>
              </a:tabLst>
            </a:pPr>
            <a:r>
              <a:rPr sz="2600" dirty="0">
                <a:latin typeface="Calibri"/>
                <a:cs typeface="Calibri"/>
              </a:rPr>
              <a:t>Quality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checks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can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be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conducted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using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various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tools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and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metrics,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such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as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BUSCO, </a:t>
            </a:r>
            <a:r>
              <a:rPr sz="2600" dirty="0">
                <a:latin typeface="Calibri"/>
                <a:cs typeface="Calibri"/>
              </a:rPr>
              <a:t>CheckM,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and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annotation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consistency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scores.</a:t>
            </a:r>
            <a:endParaRPr sz="2600">
              <a:latin typeface="Calibri"/>
              <a:cs typeface="Calibri"/>
            </a:endParaRPr>
          </a:p>
          <a:p>
            <a:pPr marL="240665" marR="528955" indent="-228600">
              <a:lnSpc>
                <a:spcPct val="80000"/>
              </a:lnSpc>
              <a:spcBef>
                <a:spcPts val="1005"/>
              </a:spcBef>
              <a:buFont typeface="Arial MT"/>
              <a:buChar char="•"/>
              <a:tabLst>
                <a:tab pos="240665" algn="l"/>
              </a:tabLst>
            </a:pPr>
            <a:r>
              <a:rPr sz="2600" spc="-10" dirty="0">
                <a:latin typeface="Calibri"/>
                <a:cs typeface="Calibri"/>
              </a:rPr>
              <a:t>Collaboration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and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manual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curation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by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experts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in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the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field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can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help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improve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spc="-25" dirty="0">
                <a:latin typeface="Calibri"/>
                <a:cs typeface="Calibri"/>
              </a:rPr>
              <a:t>the </a:t>
            </a:r>
            <a:r>
              <a:rPr sz="2600" dirty="0">
                <a:latin typeface="Calibri"/>
                <a:cs typeface="Calibri"/>
              </a:rPr>
              <a:t>accuracy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and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quality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of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automated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annotations.</a:t>
            </a:r>
            <a:endParaRPr sz="2600">
              <a:latin typeface="Calibri"/>
              <a:cs typeface="Calibri"/>
            </a:endParaRPr>
          </a:p>
          <a:p>
            <a:pPr marL="240665" marR="161925" indent="-228600" algn="just">
              <a:lnSpc>
                <a:spcPct val="80000"/>
              </a:lnSpc>
              <a:spcBef>
                <a:spcPts val="1010"/>
              </a:spcBef>
              <a:buFont typeface="Arial MT"/>
              <a:buChar char="•"/>
              <a:tabLst>
                <a:tab pos="240665" algn="l"/>
              </a:tabLst>
            </a:pPr>
            <a:r>
              <a:rPr sz="2600" dirty="0">
                <a:latin typeface="Calibri"/>
                <a:cs typeface="Calibri"/>
              </a:rPr>
              <a:t>Regular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updates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and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spc="-25" dirty="0">
                <a:latin typeface="Calibri"/>
                <a:cs typeface="Calibri"/>
              </a:rPr>
              <a:t>re-</a:t>
            </a:r>
            <a:r>
              <a:rPr sz="2600" dirty="0">
                <a:latin typeface="Calibri"/>
                <a:cs typeface="Calibri"/>
              </a:rPr>
              <a:t>annotation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of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bacterial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genomes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can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help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ensure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that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spc="-25" dirty="0">
                <a:latin typeface="Calibri"/>
                <a:cs typeface="Calibri"/>
              </a:rPr>
              <a:t>the </a:t>
            </a:r>
            <a:r>
              <a:rPr sz="2600" dirty="0">
                <a:latin typeface="Calibri"/>
                <a:cs typeface="Calibri"/>
              </a:rPr>
              <a:t>annotations</a:t>
            </a:r>
            <a:r>
              <a:rPr sz="2600" spc="-8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reflect</a:t>
            </a:r>
            <a:r>
              <a:rPr sz="2600" spc="-8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the</a:t>
            </a:r>
            <a:r>
              <a:rPr sz="2600" spc="-8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most</a:t>
            </a:r>
            <a:r>
              <a:rPr sz="2600" spc="-8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current</a:t>
            </a:r>
            <a:r>
              <a:rPr sz="2600" spc="-8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knowledge</a:t>
            </a:r>
            <a:r>
              <a:rPr sz="2600" spc="-9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and</a:t>
            </a:r>
            <a:r>
              <a:rPr sz="2600" spc="-85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technology,</a:t>
            </a:r>
            <a:r>
              <a:rPr sz="2600" spc="-8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and</a:t>
            </a:r>
            <a:r>
              <a:rPr sz="2600" spc="-8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improve</a:t>
            </a:r>
            <a:r>
              <a:rPr sz="2600" spc="-90" dirty="0">
                <a:latin typeface="Calibri"/>
                <a:cs typeface="Calibri"/>
              </a:rPr>
              <a:t> </a:t>
            </a:r>
            <a:r>
              <a:rPr sz="2600" spc="-25" dirty="0">
                <a:latin typeface="Calibri"/>
                <a:cs typeface="Calibri"/>
              </a:rPr>
              <a:t>the </a:t>
            </a:r>
            <a:r>
              <a:rPr sz="2600" spc="-10" dirty="0">
                <a:latin typeface="Calibri"/>
                <a:cs typeface="Calibri"/>
              </a:rPr>
              <a:t>overall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quality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of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genomic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databases.</a:t>
            </a:r>
            <a:endParaRPr sz="2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35178" rIns="0" bIns="0" rtlCol="0">
            <a:spAutoFit/>
          </a:bodyPr>
          <a:lstStyle/>
          <a:p>
            <a:pPr marL="611505">
              <a:lnSpc>
                <a:spcPct val="100000"/>
              </a:lnSpc>
              <a:spcBef>
                <a:spcPts val="110"/>
              </a:spcBef>
            </a:pPr>
            <a:r>
              <a:rPr dirty="0"/>
              <a:t>Understanding</a:t>
            </a:r>
            <a:r>
              <a:rPr spc="315" dirty="0"/>
              <a:t> </a:t>
            </a:r>
            <a:r>
              <a:rPr dirty="0"/>
              <a:t>functional</a:t>
            </a:r>
            <a:r>
              <a:rPr spc="335" dirty="0"/>
              <a:t> </a:t>
            </a:r>
            <a:r>
              <a:rPr spc="-10" dirty="0"/>
              <a:t>annotation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11001" y="1498091"/>
            <a:ext cx="11276965" cy="4408805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241300" marR="52705" indent="-228600">
              <a:lnSpc>
                <a:spcPts val="2500"/>
              </a:lnSpc>
              <a:spcBef>
                <a:spcPts val="700"/>
              </a:spcBef>
              <a:buFont typeface="Arial MT"/>
              <a:buChar char="•"/>
              <a:tabLst>
                <a:tab pos="241300" algn="l"/>
              </a:tabLst>
            </a:pPr>
            <a:r>
              <a:rPr sz="2600" dirty="0">
                <a:latin typeface="Calibri"/>
                <a:cs typeface="Calibri"/>
              </a:rPr>
              <a:t>Functional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annotation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is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the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process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of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assigning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biological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functions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to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genes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spc="-25" dirty="0">
                <a:latin typeface="Calibri"/>
                <a:cs typeface="Calibri"/>
              </a:rPr>
              <a:t>and </a:t>
            </a:r>
            <a:r>
              <a:rPr sz="2600" dirty="0">
                <a:latin typeface="Calibri"/>
                <a:cs typeface="Calibri"/>
              </a:rPr>
              <a:t>other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genomic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elements.</a:t>
            </a:r>
            <a:endParaRPr sz="2600">
              <a:latin typeface="Calibri"/>
              <a:cs typeface="Calibri"/>
            </a:endParaRPr>
          </a:p>
          <a:p>
            <a:pPr marL="241300" marR="5080" indent="-228600">
              <a:lnSpc>
                <a:spcPts val="2500"/>
              </a:lnSpc>
              <a:spcBef>
                <a:spcPts val="1000"/>
              </a:spcBef>
              <a:buFont typeface="Arial MT"/>
              <a:buChar char="•"/>
              <a:tabLst>
                <a:tab pos="241300" algn="l"/>
              </a:tabLst>
            </a:pPr>
            <a:r>
              <a:rPr sz="2600" dirty="0">
                <a:latin typeface="Calibri"/>
                <a:cs typeface="Calibri"/>
              </a:rPr>
              <a:t>It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involves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the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identification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of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conserved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domains,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motifs,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and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other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features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that </a:t>
            </a:r>
            <a:r>
              <a:rPr sz="2600" dirty="0">
                <a:latin typeface="Calibri"/>
                <a:cs typeface="Calibri"/>
              </a:rPr>
              <a:t>can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provide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clues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about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the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functions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of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genes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and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other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genomic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elements.</a:t>
            </a:r>
            <a:endParaRPr sz="2600">
              <a:latin typeface="Calibri"/>
              <a:cs typeface="Calibri"/>
            </a:endParaRPr>
          </a:p>
          <a:p>
            <a:pPr marL="241300" marR="378460" indent="-228600">
              <a:lnSpc>
                <a:spcPts val="2500"/>
              </a:lnSpc>
              <a:spcBef>
                <a:spcPts val="1000"/>
              </a:spcBef>
              <a:buFont typeface="Arial MT"/>
              <a:buChar char="•"/>
              <a:tabLst>
                <a:tab pos="241300" algn="l"/>
              </a:tabLst>
            </a:pPr>
            <a:r>
              <a:rPr sz="2600" dirty="0">
                <a:latin typeface="Calibri"/>
                <a:cs typeface="Calibri"/>
              </a:rPr>
              <a:t>Functional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annotation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can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be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done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using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variety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of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tools,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including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homology- </a:t>
            </a:r>
            <a:r>
              <a:rPr sz="2600" dirty="0">
                <a:latin typeface="Calibri"/>
                <a:cs typeface="Calibri"/>
              </a:rPr>
              <a:t>based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methods,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gene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ontology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(GO)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analysis,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and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pathway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analysis.</a:t>
            </a:r>
            <a:endParaRPr sz="2600">
              <a:latin typeface="Calibri"/>
              <a:cs typeface="Calibri"/>
            </a:endParaRPr>
          </a:p>
          <a:p>
            <a:pPr marL="241300" marR="264160" indent="-228600">
              <a:lnSpc>
                <a:spcPct val="80000"/>
              </a:lnSpc>
              <a:spcBef>
                <a:spcPts val="925"/>
              </a:spcBef>
              <a:buFont typeface="Arial MT"/>
              <a:buChar char="•"/>
              <a:tabLst>
                <a:tab pos="241300" algn="l"/>
              </a:tabLst>
            </a:pPr>
            <a:r>
              <a:rPr sz="2600" dirty="0">
                <a:latin typeface="Calibri"/>
                <a:cs typeface="Calibri"/>
              </a:rPr>
              <a:t>It</a:t>
            </a:r>
            <a:r>
              <a:rPr sz="2600" spc="-8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can</a:t>
            </a:r>
            <a:r>
              <a:rPr sz="2600" spc="-8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provide</a:t>
            </a:r>
            <a:r>
              <a:rPr sz="2600" spc="-8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important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insights</a:t>
            </a:r>
            <a:r>
              <a:rPr sz="2600" spc="-8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into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the</a:t>
            </a:r>
            <a:r>
              <a:rPr sz="2600" spc="-8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biological</a:t>
            </a:r>
            <a:r>
              <a:rPr sz="2600" spc="-8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processes</a:t>
            </a:r>
            <a:r>
              <a:rPr sz="2600" spc="-8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and</a:t>
            </a:r>
            <a:r>
              <a:rPr sz="2600" spc="-8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pathways</a:t>
            </a:r>
            <a:r>
              <a:rPr sz="2600" spc="-80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that </a:t>
            </a:r>
            <a:r>
              <a:rPr sz="2600" dirty="0">
                <a:latin typeface="Calibri"/>
                <a:cs typeface="Calibri"/>
              </a:rPr>
              <a:t>are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active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in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given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organism,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as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well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as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potential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drug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targets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and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disease mechanisms.</a:t>
            </a:r>
            <a:endParaRPr sz="2600">
              <a:latin typeface="Calibri"/>
              <a:cs typeface="Calibri"/>
            </a:endParaRPr>
          </a:p>
          <a:p>
            <a:pPr marL="241300" marR="59055" indent="-228600">
              <a:lnSpc>
                <a:spcPct val="80000"/>
              </a:lnSpc>
              <a:spcBef>
                <a:spcPts val="1010"/>
              </a:spcBef>
              <a:buFont typeface="Arial MT"/>
              <a:buChar char="•"/>
              <a:tabLst>
                <a:tab pos="241300" algn="l"/>
              </a:tabLst>
            </a:pPr>
            <a:r>
              <a:rPr sz="2600" spc="-35" dirty="0">
                <a:latin typeface="Calibri"/>
                <a:cs typeface="Calibri"/>
              </a:rPr>
              <a:t>However,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functional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annotation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is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not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always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straightforward,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and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can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be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subject </a:t>
            </a:r>
            <a:r>
              <a:rPr sz="2600" dirty="0">
                <a:latin typeface="Calibri"/>
                <a:cs typeface="Calibri"/>
              </a:rPr>
              <a:t>to</a:t>
            </a:r>
            <a:r>
              <a:rPr sz="2600" spc="-8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errors</a:t>
            </a:r>
            <a:r>
              <a:rPr sz="2600" spc="-8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and</a:t>
            </a:r>
            <a:r>
              <a:rPr sz="2600" spc="-8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limitations</a:t>
            </a:r>
            <a:r>
              <a:rPr sz="2600" spc="-8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such</a:t>
            </a:r>
            <a:r>
              <a:rPr sz="2600" spc="-8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as</a:t>
            </a:r>
            <a:r>
              <a:rPr sz="2600" spc="-8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incomplete</a:t>
            </a:r>
            <a:r>
              <a:rPr sz="2600" spc="-90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reference</a:t>
            </a:r>
            <a:r>
              <a:rPr sz="2600" spc="-9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databases,</a:t>
            </a:r>
            <a:r>
              <a:rPr sz="2600" spc="-8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annotation</a:t>
            </a:r>
            <a:r>
              <a:rPr sz="2600" spc="-8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bias, </a:t>
            </a:r>
            <a:r>
              <a:rPr sz="2600" dirty="0">
                <a:latin typeface="Calibri"/>
                <a:cs typeface="Calibri"/>
              </a:rPr>
              <a:t>and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functional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redundancy.</a:t>
            </a:r>
            <a:endParaRPr sz="2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55930" rIns="0" bIns="0" rtlCol="0">
            <a:spAutoFit/>
          </a:bodyPr>
          <a:lstStyle/>
          <a:p>
            <a:pPr marL="31115">
              <a:lnSpc>
                <a:spcPct val="100000"/>
              </a:lnSpc>
              <a:spcBef>
                <a:spcPts val="110"/>
              </a:spcBef>
            </a:pPr>
            <a:r>
              <a:rPr dirty="0"/>
              <a:t>Annotating</a:t>
            </a:r>
            <a:r>
              <a:rPr spc="235" dirty="0"/>
              <a:t> </a:t>
            </a:r>
            <a:r>
              <a:rPr dirty="0"/>
              <a:t>novel</a:t>
            </a:r>
            <a:r>
              <a:rPr spc="240" dirty="0"/>
              <a:t> </a:t>
            </a:r>
            <a:r>
              <a:rPr dirty="0"/>
              <a:t>genes</a:t>
            </a:r>
            <a:r>
              <a:rPr spc="235" dirty="0"/>
              <a:t> </a:t>
            </a:r>
            <a:r>
              <a:rPr dirty="0"/>
              <a:t>and</a:t>
            </a:r>
            <a:r>
              <a:rPr spc="240" dirty="0"/>
              <a:t> </a:t>
            </a:r>
            <a:r>
              <a:rPr dirty="0"/>
              <a:t>functional</a:t>
            </a:r>
            <a:r>
              <a:rPr spc="240" dirty="0"/>
              <a:t> </a:t>
            </a:r>
            <a:r>
              <a:rPr spc="-10" dirty="0"/>
              <a:t>domains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69933" y="1534668"/>
            <a:ext cx="11564620" cy="48171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indent="-228600">
              <a:lnSpc>
                <a:spcPts val="2665"/>
              </a:lnSpc>
              <a:spcBef>
                <a:spcPts val="100"/>
              </a:spcBef>
              <a:buFont typeface="Arial MT"/>
              <a:buChar char="•"/>
              <a:tabLst>
                <a:tab pos="241300" algn="l"/>
              </a:tabLst>
            </a:pPr>
            <a:r>
              <a:rPr sz="2600" dirty="0">
                <a:latin typeface="Calibri"/>
                <a:cs typeface="Calibri"/>
              </a:rPr>
              <a:t>Functional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annotation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can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help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identify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novel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genes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and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functional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domains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spc="-25" dirty="0">
                <a:latin typeface="Calibri"/>
                <a:cs typeface="Calibri"/>
              </a:rPr>
              <a:t>in</a:t>
            </a:r>
            <a:endParaRPr sz="2600">
              <a:latin typeface="Calibri"/>
              <a:cs typeface="Calibri"/>
            </a:endParaRPr>
          </a:p>
          <a:p>
            <a:pPr marL="240665" marR="614680">
              <a:lnSpc>
                <a:spcPct val="70800"/>
              </a:lnSpc>
              <a:spcBef>
                <a:spcPts val="455"/>
              </a:spcBef>
            </a:pPr>
            <a:r>
              <a:rPr sz="2600" dirty="0">
                <a:latin typeface="Calibri"/>
                <a:cs typeface="Calibri"/>
              </a:rPr>
              <a:t>bacterial</a:t>
            </a:r>
            <a:r>
              <a:rPr sz="2600" spc="-8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genomes,</a:t>
            </a:r>
            <a:r>
              <a:rPr sz="2600" spc="-8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providing</a:t>
            </a:r>
            <a:r>
              <a:rPr sz="2600" spc="-8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insights</a:t>
            </a:r>
            <a:r>
              <a:rPr sz="2600" spc="-9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into</a:t>
            </a:r>
            <a:r>
              <a:rPr sz="2600" spc="-8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the</a:t>
            </a:r>
            <a:r>
              <a:rPr sz="2600" spc="-9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biological</a:t>
            </a:r>
            <a:r>
              <a:rPr sz="2600" spc="-8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mechanisms</a:t>
            </a:r>
            <a:r>
              <a:rPr sz="2600" spc="-8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underlying </a:t>
            </a:r>
            <a:r>
              <a:rPr sz="2600" dirty="0">
                <a:latin typeface="Calibri"/>
                <a:cs typeface="Calibri"/>
              </a:rPr>
              <a:t>bacterial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physiology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and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pathogenesis.</a:t>
            </a:r>
            <a:endParaRPr sz="2600">
              <a:latin typeface="Calibri"/>
              <a:cs typeface="Calibri"/>
            </a:endParaRPr>
          </a:p>
          <a:p>
            <a:pPr marL="241300" indent="-228600">
              <a:lnSpc>
                <a:spcPts val="2665"/>
              </a:lnSpc>
              <a:spcBef>
                <a:spcPts val="70"/>
              </a:spcBef>
              <a:buFont typeface="Arial MT"/>
              <a:buChar char="•"/>
              <a:tabLst>
                <a:tab pos="241300" algn="l"/>
              </a:tabLst>
            </a:pPr>
            <a:r>
              <a:rPr sz="2600" dirty="0">
                <a:latin typeface="Calibri"/>
                <a:cs typeface="Calibri"/>
              </a:rPr>
              <a:t>Gene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prediction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tools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can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be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used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to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identify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putative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genes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in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bacterial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genomes,</a:t>
            </a:r>
            <a:endParaRPr sz="2600">
              <a:latin typeface="Calibri"/>
              <a:cs typeface="Calibri"/>
            </a:endParaRPr>
          </a:p>
          <a:p>
            <a:pPr marL="240665" marR="5080">
              <a:lnSpc>
                <a:spcPct val="70000"/>
              </a:lnSpc>
              <a:spcBef>
                <a:spcPts val="480"/>
              </a:spcBef>
            </a:pPr>
            <a:r>
              <a:rPr sz="2600" dirty="0">
                <a:latin typeface="Calibri"/>
                <a:cs typeface="Calibri"/>
              </a:rPr>
              <a:t>but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functional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annotation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is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required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to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assign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biological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meaning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to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these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predicted genes.</a:t>
            </a:r>
            <a:endParaRPr sz="2600">
              <a:latin typeface="Calibri"/>
              <a:cs typeface="Calibri"/>
            </a:endParaRPr>
          </a:p>
          <a:p>
            <a:pPr marL="241300" indent="-228600">
              <a:lnSpc>
                <a:spcPts val="2640"/>
              </a:lnSpc>
              <a:buFont typeface="Arial MT"/>
              <a:buChar char="•"/>
              <a:tabLst>
                <a:tab pos="241300" algn="l"/>
              </a:tabLst>
            </a:pPr>
            <a:r>
              <a:rPr sz="2600" spc="-10" dirty="0">
                <a:latin typeface="Calibri"/>
                <a:cs typeface="Calibri"/>
              </a:rPr>
              <a:t>Several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databases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and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tools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are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available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to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aid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in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functional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annotation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of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bacterial</a:t>
            </a:r>
            <a:endParaRPr sz="2600">
              <a:latin typeface="Calibri"/>
              <a:cs typeface="Calibri"/>
            </a:endParaRPr>
          </a:p>
          <a:p>
            <a:pPr marL="240665" marR="724535">
              <a:lnSpc>
                <a:spcPct val="70800"/>
              </a:lnSpc>
              <a:spcBef>
                <a:spcPts val="455"/>
              </a:spcBef>
            </a:pPr>
            <a:r>
              <a:rPr sz="2600" dirty="0">
                <a:latin typeface="Calibri"/>
                <a:cs typeface="Calibri"/>
              </a:rPr>
              <a:t>genomes,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including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Gene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spc="-25" dirty="0">
                <a:latin typeface="Calibri"/>
                <a:cs typeface="Calibri"/>
              </a:rPr>
              <a:t>Ontology,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Kyoto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Encyclopedia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of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Genes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and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Genomes </a:t>
            </a:r>
            <a:r>
              <a:rPr sz="2600" dirty="0">
                <a:latin typeface="Calibri"/>
                <a:cs typeface="Calibri"/>
              </a:rPr>
              <a:t>(KEGG),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and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InterProScan.</a:t>
            </a:r>
            <a:endParaRPr sz="2600">
              <a:latin typeface="Calibri"/>
              <a:cs typeface="Calibri"/>
            </a:endParaRPr>
          </a:p>
          <a:p>
            <a:pPr marL="241300" indent="-228600">
              <a:lnSpc>
                <a:spcPts val="2665"/>
              </a:lnSpc>
              <a:spcBef>
                <a:spcPts val="75"/>
              </a:spcBef>
              <a:buFont typeface="Arial MT"/>
              <a:buChar char="•"/>
              <a:tabLst>
                <a:tab pos="241300" algn="l"/>
              </a:tabLst>
            </a:pPr>
            <a:r>
              <a:rPr sz="2600" dirty="0">
                <a:latin typeface="Calibri"/>
                <a:cs typeface="Calibri"/>
              </a:rPr>
              <a:t>The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identification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of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novel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genes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and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functional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domains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in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bacterial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genomes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spc="-25" dirty="0">
                <a:latin typeface="Calibri"/>
                <a:cs typeface="Calibri"/>
              </a:rPr>
              <a:t>can</a:t>
            </a:r>
            <a:endParaRPr sz="2600">
              <a:latin typeface="Calibri"/>
              <a:cs typeface="Calibri"/>
            </a:endParaRPr>
          </a:p>
          <a:p>
            <a:pPr marL="240665" marR="123825">
              <a:lnSpc>
                <a:spcPct val="70000"/>
              </a:lnSpc>
              <a:spcBef>
                <a:spcPts val="480"/>
              </a:spcBef>
            </a:pPr>
            <a:r>
              <a:rPr sz="2600" dirty="0">
                <a:latin typeface="Calibri"/>
                <a:cs typeface="Calibri"/>
              </a:rPr>
              <a:t>lead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to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the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discovery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of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new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therapeutic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targets,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vaccine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candidates,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and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diagnostic markers</a:t>
            </a:r>
            <a:r>
              <a:rPr sz="2600" spc="-10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for</a:t>
            </a:r>
            <a:r>
              <a:rPr sz="2600" spc="-9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bacterial</a:t>
            </a:r>
            <a:r>
              <a:rPr sz="2600" spc="-10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infections.</a:t>
            </a:r>
            <a:endParaRPr sz="2600">
              <a:latin typeface="Calibri"/>
              <a:cs typeface="Calibri"/>
            </a:endParaRPr>
          </a:p>
          <a:p>
            <a:pPr marL="241300" indent="-228600">
              <a:lnSpc>
                <a:spcPts val="2650"/>
              </a:lnSpc>
              <a:buFont typeface="Arial MT"/>
              <a:buChar char="•"/>
              <a:tabLst>
                <a:tab pos="241300" algn="l"/>
              </a:tabLst>
            </a:pPr>
            <a:r>
              <a:rPr sz="2600" dirty="0">
                <a:latin typeface="Calibri"/>
                <a:cs typeface="Calibri"/>
              </a:rPr>
              <a:t>The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annotation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of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novel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genes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and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functional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domains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can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be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challenging,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as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spc="-25" dirty="0">
                <a:latin typeface="Calibri"/>
                <a:cs typeface="Calibri"/>
              </a:rPr>
              <a:t>it</a:t>
            </a:r>
            <a:endParaRPr sz="2600">
              <a:latin typeface="Calibri"/>
              <a:cs typeface="Calibri"/>
            </a:endParaRPr>
          </a:p>
          <a:p>
            <a:pPr marL="240665" marR="91440">
              <a:lnSpc>
                <a:spcPct val="70800"/>
              </a:lnSpc>
              <a:spcBef>
                <a:spcPts val="440"/>
              </a:spcBef>
            </a:pPr>
            <a:r>
              <a:rPr sz="2600" dirty="0">
                <a:latin typeface="Calibri"/>
                <a:cs typeface="Calibri"/>
              </a:rPr>
              <a:t>requires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combination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of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computational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predictions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and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experimental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validation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spc="-25" dirty="0">
                <a:latin typeface="Calibri"/>
                <a:cs typeface="Calibri"/>
              </a:rPr>
              <a:t>to </a:t>
            </a:r>
            <a:r>
              <a:rPr sz="2600" dirty="0">
                <a:latin typeface="Calibri"/>
                <a:cs typeface="Calibri"/>
              </a:rPr>
              <a:t>confirm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the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function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of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putative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genes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and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domains.</a:t>
            </a:r>
            <a:endParaRPr sz="2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0913" y="-33367"/>
            <a:ext cx="5147945" cy="68326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/>
              <a:t>Comparative</a:t>
            </a:r>
            <a:r>
              <a:rPr spc="335" dirty="0"/>
              <a:t> </a:t>
            </a:r>
            <a:r>
              <a:rPr spc="-10" dirty="0"/>
              <a:t>genomics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61620" y="937259"/>
            <a:ext cx="10888980" cy="35826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indent="-228600">
              <a:lnSpc>
                <a:spcPts val="2665"/>
              </a:lnSpc>
              <a:spcBef>
                <a:spcPts val="100"/>
              </a:spcBef>
              <a:buFont typeface="Arial MT"/>
              <a:buChar char="•"/>
              <a:tabLst>
                <a:tab pos="241300" algn="l"/>
              </a:tabLst>
            </a:pPr>
            <a:r>
              <a:rPr sz="2600" spc="-10" dirty="0">
                <a:latin typeface="Calibri"/>
                <a:cs typeface="Calibri"/>
              </a:rPr>
              <a:t>Comparative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genomics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involves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the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analysis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of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genomic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features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and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variations</a:t>
            </a:r>
            <a:endParaRPr sz="2600">
              <a:latin typeface="Calibri"/>
              <a:cs typeface="Calibri"/>
            </a:endParaRPr>
          </a:p>
          <a:p>
            <a:pPr marL="241300" marR="755650">
              <a:lnSpc>
                <a:spcPct val="70000"/>
              </a:lnSpc>
              <a:spcBef>
                <a:spcPts val="480"/>
              </a:spcBef>
            </a:pPr>
            <a:r>
              <a:rPr sz="2600" dirty="0">
                <a:latin typeface="Calibri"/>
                <a:cs typeface="Calibri"/>
              </a:rPr>
              <a:t>among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different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organisms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to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infer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evolutionary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relationships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and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identify </a:t>
            </a:r>
            <a:r>
              <a:rPr sz="2600" dirty="0">
                <a:latin typeface="Calibri"/>
                <a:cs typeface="Calibri"/>
              </a:rPr>
              <a:t>functional</a:t>
            </a:r>
            <a:r>
              <a:rPr sz="2600" spc="-8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differences.</a:t>
            </a:r>
            <a:endParaRPr sz="2600">
              <a:latin typeface="Calibri"/>
              <a:cs typeface="Calibri"/>
            </a:endParaRPr>
          </a:p>
          <a:p>
            <a:pPr marL="241300" indent="-228600">
              <a:lnSpc>
                <a:spcPts val="2650"/>
              </a:lnSpc>
              <a:spcBef>
                <a:spcPts val="95"/>
              </a:spcBef>
              <a:buFont typeface="Arial MT"/>
              <a:buChar char="•"/>
              <a:tabLst>
                <a:tab pos="241300" algn="l"/>
              </a:tabLst>
            </a:pPr>
            <a:r>
              <a:rPr sz="2600" spc="-10" dirty="0">
                <a:latin typeface="Calibri"/>
                <a:cs typeface="Calibri"/>
              </a:rPr>
              <a:t>Phylogenetic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analysis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is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key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tool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in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comparative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genomics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and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involves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spc="-25" dirty="0">
                <a:latin typeface="Calibri"/>
                <a:cs typeface="Calibri"/>
              </a:rPr>
              <a:t>the</a:t>
            </a:r>
            <a:endParaRPr sz="2600">
              <a:latin typeface="Calibri"/>
              <a:cs typeface="Calibri"/>
            </a:endParaRPr>
          </a:p>
          <a:p>
            <a:pPr marL="241300" marR="15240">
              <a:lnSpc>
                <a:spcPct val="70800"/>
              </a:lnSpc>
              <a:spcBef>
                <a:spcPts val="445"/>
              </a:spcBef>
            </a:pPr>
            <a:r>
              <a:rPr sz="2600" spc="-10" dirty="0">
                <a:latin typeface="Calibri"/>
                <a:cs typeface="Calibri"/>
              </a:rPr>
              <a:t>construction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of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evolutionary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trees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to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depict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the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relationships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between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different organisms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based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on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shared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features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or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genetic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similarities.</a:t>
            </a:r>
            <a:endParaRPr sz="2600">
              <a:latin typeface="Calibri"/>
              <a:cs typeface="Calibri"/>
            </a:endParaRPr>
          </a:p>
          <a:p>
            <a:pPr marL="241300" indent="-228600">
              <a:lnSpc>
                <a:spcPts val="2640"/>
              </a:lnSpc>
              <a:buFont typeface="Arial MT"/>
              <a:buChar char="•"/>
              <a:tabLst>
                <a:tab pos="241300" algn="l"/>
              </a:tabLst>
            </a:pPr>
            <a:r>
              <a:rPr sz="2600" spc="-10" dirty="0">
                <a:latin typeface="Calibri"/>
                <a:cs typeface="Calibri"/>
              </a:rPr>
              <a:t>Comparative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genomics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and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phylogenetic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analysis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can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help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identify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genes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spc="-25" dirty="0">
                <a:latin typeface="Calibri"/>
                <a:cs typeface="Calibri"/>
              </a:rPr>
              <a:t>or</a:t>
            </a:r>
            <a:endParaRPr sz="2600">
              <a:latin typeface="Calibri"/>
              <a:cs typeface="Calibri"/>
            </a:endParaRPr>
          </a:p>
          <a:p>
            <a:pPr marL="241300">
              <a:lnSpc>
                <a:spcPts val="2195"/>
              </a:lnSpc>
            </a:pPr>
            <a:r>
              <a:rPr sz="2600" spc="-10" dirty="0">
                <a:latin typeface="Calibri"/>
                <a:cs typeface="Calibri"/>
              </a:rPr>
              <a:t>pathways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that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are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unique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to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specific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bacterial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species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or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lineages,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and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provide</a:t>
            </a:r>
            <a:endParaRPr sz="2600">
              <a:latin typeface="Calibri"/>
              <a:cs typeface="Calibri"/>
            </a:endParaRPr>
          </a:p>
          <a:p>
            <a:pPr marL="241300" marR="5080">
              <a:lnSpc>
                <a:spcPct val="70800"/>
              </a:lnSpc>
              <a:spcBef>
                <a:spcPts val="440"/>
              </a:spcBef>
            </a:pPr>
            <a:r>
              <a:rPr sz="2600" dirty="0">
                <a:latin typeface="Calibri"/>
                <a:cs typeface="Calibri"/>
              </a:rPr>
              <a:t>insights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into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the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evolution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of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these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organisms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and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their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adaptations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to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different environments.</a:t>
            </a:r>
            <a:endParaRPr sz="26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75"/>
              </a:spcBef>
              <a:buFont typeface="Arial MT"/>
              <a:buChar char="•"/>
              <a:tabLst>
                <a:tab pos="241300" algn="l"/>
              </a:tabLst>
            </a:pPr>
            <a:r>
              <a:rPr sz="2600" spc="-35" dirty="0">
                <a:latin typeface="Calibri"/>
                <a:cs typeface="Calibri"/>
              </a:rPr>
              <a:t>Tools</a:t>
            </a:r>
            <a:r>
              <a:rPr sz="2600" spc="-8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for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comparative</a:t>
            </a:r>
            <a:r>
              <a:rPr sz="2600" spc="-8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genomics</a:t>
            </a:r>
            <a:r>
              <a:rPr sz="2600" spc="-8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and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phylogenetic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analysis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include</a:t>
            </a:r>
            <a:r>
              <a:rPr sz="2600" spc="-8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alignment</a:t>
            </a:r>
            <a:endParaRPr sz="26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90219" y="4378452"/>
            <a:ext cx="10187940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00" spc="-10" dirty="0">
                <a:latin typeface="Calibri"/>
                <a:cs typeface="Calibri"/>
              </a:rPr>
              <a:t>software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such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as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spc="-45" dirty="0">
                <a:latin typeface="Calibri"/>
                <a:cs typeface="Calibri"/>
              </a:rPr>
              <a:t>MAFFT, </a:t>
            </a:r>
            <a:r>
              <a:rPr sz="2600" dirty="0">
                <a:latin typeface="Calibri"/>
                <a:cs typeface="Calibri"/>
              </a:rPr>
              <a:t>MUSCLE,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and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spc="-35" dirty="0">
                <a:latin typeface="Calibri"/>
                <a:cs typeface="Calibri"/>
              </a:rPr>
              <a:t>ClustalW,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and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phylogenetic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inference</a:t>
            </a:r>
            <a:endParaRPr sz="26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90219" y="4646676"/>
            <a:ext cx="8384540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00" dirty="0">
                <a:latin typeface="Calibri"/>
                <a:cs typeface="Calibri"/>
              </a:rPr>
              <a:t>methods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such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as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Maximum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Likelihood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and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Bayesian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Inference.</a:t>
            </a:r>
            <a:endParaRPr sz="26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61620" y="5052060"/>
            <a:ext cx="11414760" cy="12598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indent="-228600">
              <a:lnSpc>
                <a:spcPts val="2665"/>
              </a:lnSpc>
              <a:spcBef>
                <a:spcPts val="100"/>
              </a:spcBef>
              <a:buFont typeface="Arial MT"/>
              <a:buChar char="•"/>
              <a:tabLst>
                <a:tab pos="241300" algn="l"/>
              </a:tabLst>
            </a:pPr>
            <a:r>
              <a:rPr sz="2600" dirty="0">
                <a:latin typeface="Calibri"/>
                <a:cs typeface="Calibri"/>
              </a:rPr>
              <a:t>Quality</a:t>
            </a:r>
            <a:r>
              <a:rPr sz="2600" spc="-8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checks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for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comparative</a:t>
            </a:r>
            <a:r>
              <a:rPr sz="2600" spc="-8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genomics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and</a:t>
            </a:r>
            <a:r>
              <a:rPr sz="2600" spc="-8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phylogenetic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analysis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involve</a:t>
            </a:r>
            <a:endParaRPr sz="2600">
              <a:latin typeface="Calibri"/>
              <a:cs typeface="Calibri"/>
            </a:endParaRPr>
          </a:p>
          <a:p>
            <a:pPr marL="241300">
              <a:lnSpc>
                <a:spcPts val="2195"/>
              </a:lnSpc>
            </a:pPr>
            <a:r>
              <a:rPr sz="2600" dirty="0">
                <a:latin typeface="Calibri"/>
                <a:cs typeface="Calibri"/>
              </a:rPr>
              <a:t>assessing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the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accuracy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and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reliability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of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the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data,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selecting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appropriate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analysis</a:t>
            </a:r>
            <a:endParaRPr sz="2600">
              <a:latin typeface="Calibri"/>
              <a:cs typeface="Calibri"/>
            </a:endParaRPr>
          </a:p>
          <a:p>
            <a:pPr marL="241300" marR="5080">
              <a:lnSpc>
                <a:spcPct val="70800"/>
              </a:lnSpc>
              <a:spcBef>
                <a:spcPts val="440"/>
              </a:spcBef>
            </a:pPr>
            <a:r>
              <a:rPr sz="2600" dirty="0">
                <a:latin typeface="Calibri"/>
                <a:cs typeface="Calibri"/>
              </a:rPr>
              <a:t>tools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and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methods,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and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incorporating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relevant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metadata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and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information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to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ensure </a:t>
            </a:r>
            <a:r>
              <a:rPr sz="2600" dirty="0">
                <a:latin typeface="Calibri"/>
                <a:cs typeface="Calibri"/>
              </a:rPr>
              <a:t>the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validity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of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the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results.</a:t>
            </a:r>
            <a:endParaRPr sz="2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8424" y="365920"/>
            <a:ext cx="10347325" cy="68326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/>
              <a:t>Visualizing</a:t>
            </a:r>
            <a:r>
              <a:rPr spc="260" dirty="0"/>
              <a:t> </a:t>
            </a:r>
            <a:r>
              <a:rPr dirty="0"/>
              <a:t>and</a:t>
            </a:r>
            <a:r>
              <a:rPr spc="275" dirty="0"/>
              <a:t> </a:t>
            </a:r>
            <a:r>
              <a:rPr dirty="0"/>
              <a:t>interpreting</a:t>
            </a:r>
            <a:r>
              <a:rPr spc="275" dirty="0"/>
              <a:t> </a:t>
            </a:r>
            <a:r>
              <a:rPr dirty="0"/>
              <a:t>annotation</a:t>
            </a:r>
            <a:r>
              <a:rPr spc="275" dirty="0"/>
              <a:t> </a:t>
            </a:r>
            <a:r>
              <a:rPr spc="-10" dirty="0"/>
              <a:t>results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95118" y="1184147"/>
            <a:ext cx="11650345" cy="5042535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241300" marR="478155" indent="-228600">
              <a:lnSpc>
                <a:spcPts val="2500"/>
              </a:lnSpc>
              <a:spcBef>
                <a:spcPts val="700"/>
              </a:spcBef>
              <a:buFont typeface="Arial MT"/>
              <a:buChar char="•"/>
              <a:tabLst>
                <a:tab pos="241300" algn="l"/>
              </a:tabLst>
            </a:pPr>
            <a:r>
              <a:rPr sz="2600" spc="-10" dirty="0">
                <a:latin typeface="Calibri"/>
                <a:cs typeface="Calibri"/>
              </a:rPr>
              <a:t>Visualization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tools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can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help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researchers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to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interpret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and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compare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the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results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spc="-25" dirty="0">
                <a:latin typeface="Calibri"/>
                <a:cs typeface="Calibri"/>
              </a:rPr>
              <a:t>of </a:t>
            </a:r>
            <a:r>
              <a:rPr sz="2600" dirty="0">
                <a:latin typeface="Calibri"/>
                <a:cs typeface="Calibri"/>
              </a:rPr>
              <a:t>genome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annotations,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allowing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them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to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identify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patterns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and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gain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insights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into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spc="-25" dirty="0">
                <a:latin typeface="Calibri"/>
                <a:cs typeface="Calibri"/>
              </a:rPr>
              <a:t>the </a:t>
            </a:r>
            <a:r>
              <a:rPr sz="2600" dirty="0">
                <a:latin typeface="Calibri"/>
                <a:cs typeface="Calibri"/>
              </a:rPr>
              <a:t>functional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roles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of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genes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and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gene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products.</a:t>
            </a:r>
            <a:endParaRPr sz="2600">
              <a:latin typeface="Calibri"/>
              <a:cs typeface="Calibri"/>
            </a:endParaRPr>
          </a:p>
          <a:p>
            <a:pPr marL="241300" marR="819150" indent="-228600">
              <a:lnSpc>
                <a:spcPct val="80000"/>
              </a:lnSpc>
              <a:spcBef>
                <a:spcPts val="1019"/>
              </a:spcBef>
              <a:buFont typeface="Arial MT"/>
              <a:buChar char="•"/>
              <a:tabLst>
                <a:tab pos="241300" algn="l"/>
              </a:tabLst>
            </a:pPr>
            <a:r>
              <a:rPr sz="2600" dirty="0">
                <a:latin typeface="Calibri"/>
                <a:cs typeface="Calibri"/>
              </a:rPr>
              <a:t>Common</a:t>
            </a:r>
            <a:r>
              <a:rPr sz="2600" spc="-8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visualization</a:t>
            </a:r>
            <a:r>
              <a:rPr sz="2600" spc="-8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tools</a:t>
            </a:r>
            <a:r>
              <a:rPr sz="2600" spc="-8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for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genome</a:t>
            </a:r>
            <a:r>
              <a:rPr sz="2600" spc="-8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annotations</a:t>
            </a:r>
            <a:r>
              <a:rPr sz="2600" spc="-8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include</a:t>
            </a:r>
            <a:r>
              <a:rPr sz="2600" spc="-9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Circos,</a:t>
            </a:r>
            <a:r>
              <a:rPr sz="2600" spc="-80" dirty="0">
                <a:latin typeface="Calibri"/>
                <a:cs typeface="Calibri"/>
              </a:rPr>
              <a:t> </a:t>
            </a:r>
            <a:r>
              <a:rPr sz="2600" spc="-35" dirty="0">
                <a:latin typeface="Calibri"/>
                <a:cs typeface="Calibri"/>
              </a:rPr>
              <a:t>GView,</a:t>
            </a:r>
            <a:r>
              <a:rPr sz="2600" spc="-80" dirty="0">
                <a:latin typeface="Calibri"/>
                <a:cs typeface="Calibri"/>
              </a:rPr>
              <a:t> </a:t>
            </a:r>
            <a:r>
              <a:rPr sz="2600" spc="-25" dirty="0">
                <a:latin typeface="Calibri"/>
                <a:cs typeface="Calibri"/>
              </a:rPr>
              <a:t>and </a:t>
            </a:r>
            <a:r>
              <a:rPr sz="2600" dirty="0">
                <a:latin typeface="Calibri"/>
                <a:cs typeface="Calibri"/>
              </a:rPr>
              <a:t>Artemis,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among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others.</a:t>
            </a:r>
            <a:endParaRPr sz="2600">
              <a:latin typeface="Calibri"/>
              <a:cs typeface="Calibri"/>
            </a:endParaRPr>
          </a:p>
          <a:p>
            <a:pPr marL="241300" marR="360045" indent="-228600">
              <a:lnSpc>
                <a:spcPct val="78500"/>
              </a:lnSpc>
              <a:spcBef>
                <a:spcPts val="1055"/>
              </a:spcBef>
              <a:buFont typeface="Arial MT"/>
              <a:buChar char="•"/>
              <a:tabLst>
                <a:tab pos="241300" algn="l"/>
              </a:tabLst>
            </a:pPr>
            <a:r>
              <a:rPr sz="2600" spc="-10" dirty="0">
                <a:latin typeface="Calibri"/>
                <a:cs typeface="Calibri"/>
              </a:rPr>
              <a:t>Visualization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can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help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researchers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to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identify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patterns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such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as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spc="-35" dirty="0">
                <a:latin typeface="Calibri"/>
                <a:cs typeface="Calibri"/>
              </a:rPr>
              <a:t>synteny,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conserved </a:t>
            </a:r>
            <a:r>
              <a:rPr sz="2600" dirty="0">
                <a:latin typeface="Calibri"/>
                <a:cs typeface="Calibri"/>
              </a:rPr>
              <a:t>domains,</a:t>
            </a:r>
            <a:r>
              <a:rPr sz="2600" spc="-8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and</a:t>
            </a:r>
            <a:r>
              <a:rPr sz="2600" spc="-8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gene</a:t>
            </a:r>
            <a:r>
              <a:rPr sz="2600" spc="-9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clusters,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and</a:t>
            </a:r>
            <a:r>
              <a:rPr sz="2600" spc="-8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compare</a:t>
            </a:r>
            <a:r>
              <a:rPr sz="2600" spc="-8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annotations</a:t>
            </a:r>
            <a:r>
              <a:rPr sz="2600" spc="-8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across</a:t>
            </a:r>
            <a:r>
              <a:rPr sz="2600" spc="-8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different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genomes</a:t>
            </a:r>
            <a:r>
              <a:rPr sz="2600" spc="-85" dirty="0">
                <a:latin typeface="Calibri"/>
                <a:cs typeface="Calibri"/>
              </a:rPr>
              <a:t> </a:t>
            </a:r>
            <a:r>
              <a:rPr sz="2600" spc="-25" dirty="0">
                <a:latin typeface="Calibri"/>
                <a:cs typeface="Calibri"/>
              </a:rPr>
              <a:t>or </a:t>
            </a:r>
            <a:r>
              <a:rPr sz="2600" spc="-10" dirty="0">
                <a:latin typeface="Calibri"/>
                <a:cs typeface="Calibri"/>
              </a:rPr>
              <a:t>different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regions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of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the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same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genome.</a:t>
            </a:r>
            <a:endParaRPr sz="2600">
              <a:latin typeface="Calibri"/>
              <a:cs typeface="Calibri"/>
            </a:endParaRPr>
          </a:p>
          <a:p>
            <a:pPr marL="241300" marR="236220" indent="-228600">
              <a:lnSpc>
                <a:spcPct val="80000"/>
              </a:lnSpc>
              <a:spcBef>
                <a:spcPts val="1005"/>
              </a:spcBef>
              <a:buFont typeface="Arial MT"/>
              <a:buChar char="•"/>
              <a:tabLst>
                <a:tab pos="241300" algn="l"/>
              </a:tabLst>
            </a:pPr>
            <a:r>
              <a:rPr sz="2600" dirty="0">
                <a:latin typeface="Calibri"/>
                <a:cs typeface="Calibri"/>
              </a:rPr>
              <a:t>By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combining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annotation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results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with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additional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data,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such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as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transcriptomic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spc="-25" dirty="0">
                <a:latin typeface="Calibri"/>
                <a:cs typeface="Calibri"/>
              </a:rPr>
              <a:t>or </a:t>
            </a:r>
            <a:r>
              <a:rPr sz="2600" spc="-10" dirty="0">
                <a:latin typeface="Calibri"/>
                <a:cs typeface="Calibri"/>
              </a:rPr>
              <a:t>proteomic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data,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researchers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can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gain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more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complete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picture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of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gene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function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spc="-25" dirty="0">
                <a:latin typeface="Calibri"/>
                <a:cs typeface="Calibri"/>
              </a:rPr>
              <a:t>and </a:t>
            </a:r>
            <a:r>
              <a:rPr sz="2600" spc="-10" dirty="0">
                <a:latin typeface="Calibri"/>
                <a:cs typeface="Calibri"/>
              </a:rPr>
              <a:t>regulation.</a:t>
            </a:r>
            <a:endParaRPr sz="2600">
              <a:latin typeface="Calibri"/>
              <a:cs typeface="Calibri"/>
            </a:endParaRPr>
          </a:p>
          <a:p>
            <a:pPr marL="241300" marR="5080" indent="-228600">
              <a:lnSpc>
                <a:spcPct val="80000"/>
              </a:lnSpc>
              <a:spcBef>
                <a:spcPts val="1010"/>
              </a:spcBef>
              <a:buFont typeface="Arial MT"/>
              <a:buChar char="•"/>
              <a:tabLst>
                <a:tab pos="241300" algn="l"/>
              </a:tabLst>
            </a:pPr>
            <a:r>
              <a:rPr sz="2600" spc="-25" dirty="0">
                <a:latin typeface="Calibri"/>
                <a:cs typeface="Calibri"/>
              </a:rPr>
              <a:t>Effective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visualization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and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interpretation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of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annotation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results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is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essential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spc="-25" dirty="0">
                <a:latin typeface="Calibri"/>
                <a:cs typeface="Calibri"/>
              </a:rPr>
              <a:t>for </a:t>
            </a:r>
            <a:r>
              <a:rPr sz="2600" spc="-10" dirty="0">
                <a:latin typeface="Calibri"/>
                <a:cs typeface="Calibri"/>
              </a:rPr>
              <a:t>understanding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the</a:t>
            </a:r>
            <a:r>
              <a:rPr sz="2600" spc="-8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biological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significance</a:t>
            </a:r>
            <a:r>
              <a:rPr sz="2600" spc="-8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of</a:t>
            </a:r>
            <a:r>
              <a:rPr sz="2600" spc="-8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genomic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data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and</a:t>
            </a:r>
            <a:r>
              <a:rPr sz="2600" spc="-8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informing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downstream </a:t>
            </a:r>
            <a:r>
              <a:rPr sz="2600" dirty="0">
                <a:latin typeface="Calibri"/>
                <a:cs typeface="Calibri"/>
              </a:rPr>
              <a:t>analyses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and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experimental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design.</a:t>
            </a:r>
            <a:endParaRPr sz="2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925" y="314104"/>
            <a:ext cx="6558915" cy="68326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/>
              <a:t>Evaluating</a:t>
            </a:r>
            <a:r>
              <a:rPr spc="240" dirty="0"/>
              <a:t> </a:t>
            </a:r>
            <a:r>
              <a:rPr dirty="0"/>
              <a:t>annotation</a:t>
            </a:r>
            <a:r>
              <a:rPr spc="250" dirty="0"/>
              <a:t> </a:t>
            </a:r>
            <a:r>
              <a:rPr spc="-10" dirty="0"/>
              <a:t>quality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03431" y="1293876"/>
            <a:ext cx="11816080" cy="48171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indent="-228600">
              <a:lnSpc>
                <a:spcPts val="2665"/>
              </a:lnSpc>
              <a:spcBef>
                <a:spcPts val="100"/>
              </a:spcBef>
              <a:buFont typeface="Arial MT"/>
              <a:buChar char="•"/>
              <a:tabLst>
                <a:tab pos="241300" algn="l"/>
              </a:tabLst>
            </a:pPr>
            <a:r>
              <a:rPr sz="2600" b="1" spc="-10" dirty="0">
                <a:latin typeface="Calibri"/>
                <a:cs typeface="Calibri"/>
              </a:rPr>
              <a:t>Consistency</a:t>
            </a:r>
            <a:r>
              <a:rPr sz="2600" b="1" spc="-55" dirty="0">
                <a:latin typeface="Calibri"/>
                <a:cs typeface="Calibri"/>
              </a:rPr>
              <a:t> </a:t>
            </a:r>
            <a:r>
              <a:rPr sz="2600" b="1" dirty="0">
                <a:latin typeface="Calibri"/>
                <a:cs typeface="Calibri"/>
              </a:rPr>
              <a:t>and</a:t>
            </a:r>
            <a:r>
              <a:rPr sz="2600" b="1" spc="-55" dirty="0">
                <a:latin typeface="Calibri"/>
                <a:cs typeface="Calibri"/>
              </a:rPr>
              <a:t> </a:t>
            </a:r>
            <a:r>
              <a:rPr sz="2600" b="1" spc="-10" dirty="0">
                <a:latin typeface="Calibri"/>
                <a:cs typeface="Calibri"/>
              </a:rPr>
              <a:t>completeness:</a:t>
            </a:r>
            <a:r>
              <a:rPr sz="2600" b="1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The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annotation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should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be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consistent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throughout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spc="-25" dirty="0">
                <a:latin typeface="Calibri"/>
                <a:cs typeface="Calibri"/>
              </a:rPr>
              <a:t>the</a:t>
            </a:r>
            <a:endParaRPr sz="2600">
              <a:latin typeface="Calibri"/>
              <a:cs typeface="Calibri"/>
            </a:endParaRPr>
          </a:p>
          <a:p>
            <a:pPr marL="240665" marR="260350">
              <a:lnSpc>
                <a:spcPct val="70000"/>
              </a:lnSpc>
              <a:spcBef>
                <a:spcPts val="480"/>
              </a:spcBef>
            </a:pPr>
            <a:r>
              <a:rPr sz="2600" dirty="0">
                <a:latin typeface="Calibri"/>
                <a:cs typeface="Calibri"/>
              </a:rPr>
              <a:t>genome,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with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similar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annotations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for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genes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that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share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functions,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and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the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annotation </a:t>
            </a:r>
            <a:r>
              <a:rPr sz="2600" dirty="0">
                <a:latin typeface="Calibri"/>
                <a:cs typeface="Calibri"/>
              </a:rPr>
              <a:t>should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be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as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complete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as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possible,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with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all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relevant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information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captured.</a:t>
            </a:r>
            <a:endParaRPr sz="2600">
              <a:latin typeface="Calibri"/>
              <a:cs typeface="Calibri"/>
            </a:endParaRPr>
          </a:p>
          <a:p>
            <a:pPr marL="241300" indent="-228600">
              <a:lnSpc>
                <a:spcPts val="2650"/>
              </a:lnSpc>
              <a:spcBef>
                <a:spcPts val="95"/>
              </a:spcBef>
              <a:buFont typeface="Arial MT"/>
              <a:buChar char="•"/>
              <a:tabLst>
                <a:tab pos="241300" algn="l"/>
              </a:tabLst>
            </a:pPr>
            <a:r>
              <a:rPr sz="2600" b="1" spc="-20" dirty="0">
                <a:latin typeface="Calibri"/>
                <a:cs typeface="Calibri"/>
              </a:rPr>
              <a:t>Evidence-</a:t>
            </a:r>
            <a:r>
              <a:rPr sz="2600" b="1" dirty="0">
                <a:latin typeface="Calibri"/>
                <a:cs typeface="Calibri"/>
              </a:rPr>
              <a:t>based</a:t>
            </a:r>
            <a:r>
              <a:rPr sz="2600" b="1" spc="-45" dirty="0">
                <a:latin typeface="Calibri"/>
                <a:cs typeface="Calibri"/>
              </a:rPr>
              <a:t> </a:t>
            </a:r>
            <a:r>
              <a:rPr sz="2600" b="1" spc="-10" dirty="0">
                <a:latin typeface="Calibri"/>
                <a:cs typeface="Calibri"/>
              </a:rPr>
              <a:t>annotation:</a:t>
            </a:r>
            <a:r>
              <a:rPr sz="2600" b="1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The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annotation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should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be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based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on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solid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evidence,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such</a:t>
            </a:r>
            <a:endParaRPr sz="2600">
              <a:latin typeface="Calibri"/>
              <a:cs typeface="Calibri"/>
            </a:endParaRPr>
          </a:p>
          <a:p>
            <a:pPr marL="240665" marR="177165">
              <a:lnSpc>
                <a:spcPct val="70800"/>
              </a:lnSpc>
              <a:spcBef>
                <a:spcPts val="445"/>
              </a:spcBef>
            </a:pPr>
            <a:r>
              <a:rPr sz="2600" dirty="0">
                <a:latin typeface="Calibri"/>
                <a:cs typeface="Calibri"/>
              </a:rPr>
              <a:t>as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experimental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data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or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similarity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to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well-</a:t>
            </a:r>
            <a:r>
              <a:rPr sz="2600" spc="-10" dirty="0">
                <a:latin typeface="Calibri"/>
                <a:cs typeface="Calibri"/>
              </a:rPr>
              <a:t>annotated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genes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in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related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species,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and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spc="-25" dirty="0">
                <a:latin typeface="Calibri"/>
                <a:cs typeface="Calibri"/>
              </a:rPr>
              <a:t>not </a:t>
            </a:r>
            <a:r>
              <a:rPr sz="2600" dirty="0">
                <a:latin typeface="Calibri"/>
                <a:cs typeface="Calibri"/>
              </a:rPr>
              <a:t>solely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on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computational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predictions.</a:t>
            </a:r>
            <a:endParaRPr sz="2600">
              <a:latin typeface="Calibri"/>
              <a:cs typeface="Calibri"/>
            </a:endParaRPr>
          </a:p>
          <a:p>
            <a:pPr marL="241300" indent="-228600">
              <a:lnSpc>
                <a:spcPts val="2640"/>
              </a:lnSpc>
              <a:buFont typeface="Arial MT"/>
              <a:buChar char="•"/>
              <a:tabLst>
                <a:tab pos="241300" algn="l"/>
              </a:tabLst>
            </a:pPr>
            <a:r>
              <a:rPr sz="2600" b="1" spc="-10" dirty="0">
                <a:latin typeface="Calibri"/>
                <a:cs typeface="Calibri"/>
              </a:rPr>
              <a:t>Avoidance</a:t>
            </a:r>
            <a:r>
              <a:rPr sz="2600" b="1" spc="-75" dirty="0">
                <a:latin typeface="Calibri"/>
                <a:cs typeface="Calibri"/>
              </a:rPr>
              <a:t> </a:t>
            </a:r>
            <a:r>
              <a:rPr sz="2600" b="1" dirty="0">
                <a:latin typeface="Calibri"/>
                <a:cs typeface="Calibri"/>
              </a:rPr>
              <a:t>of</a:t>
            </a:r>
            <a:r>
              <a:rPr sz="2600" b="1" spc="-65" dirty="0">
                <a:latin typeface="Calibri"/>
                <a:cs typeface="Calibri"/>
              </a:rPr>
              <a:t> </a:t>
            </a:r>
            <a:r>
              <a:rPr sz="2600" b="1" dirty="0">
                <a:latin typeface="Calibri"/>
                <a:cs typeface="Calibri"/>
              </a:rPr>
              <a:t>errors:</a:t>
            </a:r>
            <a:r>
              <a:rPr sz="2600" b="1" spc="-7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The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annotation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should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be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free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from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errors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such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spc="-25" dirty="0">
                <a:latin typeface="Calibri"/>
                <a:cs typeface="Calibri"/>
              </a:rPr>
              <a:t>as</a:t>
            </a:r>
            <a:endParaRPr sz="2600">
              <a:latin typeface="Calibri"/>
              <a:cs typeface="Calibri"/>
            </a:endParaRPr>
          </a:p>
          <a:p>
            <a:pPr marL="240665" marR="435609">
              <a:lnSpc>
                <a:spcPct val="70800"/>
              </a:lnSpc>
              <a:spcBef>
                <a:spcPts val="455"/>
              </a:spcBef>
            </a:pPr>
            <a:r>
              <a:rPr sz="2600" spc="-10" dirty="0">
                <a:latin typeface="Calibri"/>
                <a:cs typeface="Calibri"/>
              </a:rPr>
              <a:t>misidentifications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or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incorrect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functional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assignments,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which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can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lead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to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erroneous downstream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analyses.</a:t>
            </a:r>
            <a:endParaRPr sz="2600">
              <a:latin typeface="Calibri"/>
              <a:cs typeface="Calibri"/>
            </a:endParaRPr>
          </a:p>
          <a:p>
            <a:pPr marL="241300" indent="-228600">
              <a:lnSpc>
                <a:spcPts val="2665"/>
              </a:lnSpc>
              <a:spcBef>
                <a:spcPts val="70"/>
              </a:spcBef>
              <a:buFont typeface="Arial MT"/>
              <a:buChar char="•"/>
              <a:tabLst>
                <a:tab pos="241300" algn="l"/>
              </a:tabLst>
            </a:pPr>
            <a:r>
              <a:rPr sz="2600" b="1" dirty="0">
                <a:latin typeface="Calibri"/>
                <a:cs typeface="Calibri"/>
              </a:rPr>
              <a:t>Comparison</a:t>
            </a:r>
            <a:r>
              <a:rPr sz="2600" b="1" spc="-80" dirty="0">
                <a:latin typeface="Calibri"/>
                <a:cs typeface="Calibri"/>
              </a:rPr>
              <a:t> </a:t>
            </a:r>
            <a:r>
              <a:rPr sz="2600" b="1" dirty="0">
                <a:latin typeface="Calibri"/>
                <a:cs typeface="Calibri"/>
              </a:rPr>
              <a:t>with</a:t>
            </a:r>
            <a:r>
              <a:rPr sz="2600" b="1" spc="-75" dirty="0">
                <a:latin typeface="Calibri"/>
                <a:cs typeface="Calibri"/>
              </a:rPr>
              <a:t> </a:t>
            </a:r>
            <a:r>
              <a:rPr sz="2600" b="1" spc="-10" dirty="0">
                <a:latin typeface="Calibri"/>
                <a:cs typeface="Calibri"/>
              </a:rPr>
              <a:t>reference</a:t>
            </a:r>
            <a:r>
              <a:rPr sz="2600" b="1" spc="-75" dirty="0">
                <a:latin typeface="Calibri"/>
                <a:cs typeface="Calibri"/>
              </a:rPr>
              <a:t> </a:t>
            </a:r>
            <a:r>
              <a:rPr sz="2600" b="1" dirty="0">
                <a:latin typeface="Calibri"/>
                <a:cs typeface="Calibri"/>
              </a:rPr>
              <a:t>genomes:</a:t>
            </a:r>
            <a:r>
              <a:rPr sz="2600" b="1" spc="-9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The</a:t>
            </a:r>
            <a:r>
              <a:rPr sz="2600" spc="-8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annotation</a:t>
            </a:r>
            <a:r>
              <a:rPr sz="2600" spc="-8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should</a:t>
            </a:r>
            <a:r>
              <a:rPr sz="2600" spc="-8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be</a:t>
            </a:r>
            <a:r>
              <a:rPr sz="2600" spc="-8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compared</a:t>
            </a:r>
            <a:r>
              <a:rPr sz="2600" spc="-80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with</a:t>
            </a:r>
            <a:endParaRPr sz="2600">
              <a:latin typeface="Calibri"/>
              <a:cs typeface="Calibri"/>
            </a:endParaRPr>
          </a:p>
          <a:p>
            <a:pPr marL="240665" marR="313055">
              <a:lnSpc>
                <a:spcPct val="70000"/>
              </a:lnSpc>
              <a:spcBef>
                <a:spcPts val="480"/>
              </a:spcBef>
            </a:pPr>
            <a:r>
              <a:rPr sz="2600" dirty="0">
                <a:latin typeface="Calibri"/>
                <a:cs typeface="Calibri"/>
              </a:rPr>
              <a:t>annotations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of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closely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related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reference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genomes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to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ensure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consistency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and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identify </a:t>
            </a:r>
            <a:r>
              <a:rPr sz="2600" dirty="0">
                <a:latin typeface="Calibri"/>
                <a:cs typeface="Calibri"/>
              </a:rPr>
              <a:t>any</a:t>
            </a:r>
            <a:r>
              <a:rPr sz="2600" spc="-8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potential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errors</a:t>
            </a:r>
            <a:r>
              <a:rPr sz="2600" spc="-8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or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gaps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in</a:t>
            </a:r>
            <a:r>
              <a:rPr sz="2600" spc="-8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annotation.</a:t>
            </a:r>
            <a:endParaRPr sz="2600">
              <a:latin typeface="Calibri"/>
              <a:cs typeface="Calibri"/>
            </a:endParaRPr>
          </a:p>
          <a:p>
            <a:pPr marL="241300" indent="-228600">
              <a:lnSpc>
                <a:spcPts val="2640"/>
              </a:lnSpc>
              <a:buFont typeface="Arial MT"/>
              <a:buChar char="•"/>
              <a:tabLst>
                <a:tab pos="241300" algn="l"/>
              </a:tabLst>
            </a:pPr>
            <a:r>
              <a:rPr sz="2600" b="1" spc="-20" dirty="0">
                <a:latin typeface="Calibri"/>
                <a:cs typeface="Calibri"/>
              </a:rPr>
              <a:t>Verification</a:t>
            </a:r>
            <a:r>
              <a:rPr sz="2600" b="1" spc="-45" dirty="0">
                <a:latin typeface="Calibri"/>
                <a:cs typeface="Calibri"/>
              </a:rPr>
              <a:t> </a:t>
            </a:r>
            <a:r>
              <a:rPr sz="2600" b="1" dirty="0">
                <a:latin typeface="Calibri"/>
                <a:cs typeface="Calibri"/>
              </a:rPr>
              <a:t>of</a:t>
            </a:r>
            <a:r>
              <a:rPr sz="2600" b="1" spc="-40" dirty="0">
                <a:latin typeface="Calibri"/>
                <a:cs typeface="Calibri"/>
              </a:rPr>
              <a:t> </a:t>
            </a:r>
            <a:r>
              <a:rPr sz="2600" b="1" dirty="0">
                <a:latin typeface="Calibri"/>
                <a:cs typeface="Calibri"/>
              </a:rPr>
              <a:t>selected</a:t>
            </a:r>
            <a:r>
              <a:rPr sz="2600" b="1" spc="-45" dirty="0">
                <a:latin typeface="Calibri"/>
                <a:cs typeface="Calibri"/>
              </a:rPr>
              <a:t> </a:t>
            </a:r>
            <a:r>
              <a:rPr sz="2600" b="1" dirty="0">
                <a:latin typeface="Calibri"/>
                <a:cs typeface="Calibri"/>
              </a:rPr>
              <a:t>genes:</a:t>
            </a:r>
            <a:r>
              <a:rPr sz="2600" b="1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subset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of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the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annotated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genes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should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be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verified</a:t>
            </a:r>
            <a:endParaRPr sz="2600">
              <a:latin typeface="Calibri"/>
              <a:cs typeface="Calibri"/>
            </a:endParaRPr>
          </a:p>
          <a:p>
            <a:pPr marL="240665" marR="5080">
              <a:lnSpc>
                <a:spcPct val="70800"/>
              </a:lnSpc>
              <a:spcBef>
                <a:spcPts val="455"/>
              </a:spcBef>
            </a:pPr>
            <a:r>
              <a:rPr sz="2600" spc="-10" dirty="0">
                <a:latin typeface="Calibri"/>
                <a:cs typeface="Calibri"/>
              </a:rPr>
              <a:t>experimentally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to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ensure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that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the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predicted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functions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are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accurate,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and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to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identify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spc="-25" dirty="0">
                <a:latin typeface="Calibri"/>
                <a:cs typeface="Calibri"/>
              </a:rPr>
              <a:t>any </a:t>
            </a:r>
            <a:r>
              <a:rPr sz="2600" dirty="0">
                <a:latin typeface="Calibri"/>
                <a:cs typeface="Calibri"/>
              </a:rPr>
              <a:t>errors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or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omissions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in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the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annotation.</a:t>
            </a:r>
            <a:endParaRPr sz="2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73049" rIns="0" bIns="0" rtlCol="0">
            <a:spAutoFit/>
          </a:bodyPr>
          <a:lstStyle/>
          <a:p>
            <a:pPr marL="5715">
              <a:lnSpc>
                <a:spcPct val="100000"/>
              </a:lnSpc>
              <a:spcBef>
                <a:spcPts val="110"/>
              </a:spcBef>
            </a:pPr>
            <a:r>
              <a:rPr dirty="0"/>
              <a:t>Integration</a:t>
            </a:r>
            <a:r>
              <a:rPr spc="140" dirty="0"/>
              <a:t> </a:t>
            </a:r>
            <a:r>
              <a:rPr dirty="0"/>
              <a:t>of</a:t>
            </a:r>
            <a:r>
              <a:rPr spc="140" dirty="0"/>
              <a:t> </a:t>
            </a:r>
            <a:r>
              <a:rPr dirty="0"/>
              <a:t>metadata</a:t>
            </a:r>
            <a:r>
              <a:rPr spc="145" dirty="0"/>
              <a:t> </a:t>
            </a:r>
            <a:r>
              <a:rPr dirty="0"/>
              <a:t>and</a:t>
            </a:r>
            <a:r>
              <a:rPr spc="140" dirty="0"/>
              <a:t> </a:t>
            </a:r>
            <a:r>
              <a:rPr dirty="0"/>
              <a:t>relevant</a:t>
            </a:r>
            <a:r>
              <a:rPr spc="145" dirty="0"/>
              <a:t> </a:t>
            </a:r>
            <a:r>
              <a:rPr spc="-10" dirty="0"/>
              <a:t>information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11494" y="1491996"/>
            <a:ext cx="11589385" cy="4853940"/>
          </a:xfrm>
          <a:prstGeom prst="rect">
            <a:avLst/>
          </a:prstGeom>
        </p:spPr>
        <p:txBody>
          <a:bodyPr vert="horz" wrap="square" lIns="0" tIns="60325" rIns="0" bIns="0" rtlCol="0">
            <a:spAutoFit/>
          </a:bodyPr>
          <a:lstStyle/>
          <a:p>
            <a:pPr marL="241300" marR="1177290" indent="-228600">
              <a:lnSpc>
                <a:spcPts val="2780"/>
              </a:lnSpc>
              <a:spcBef>
                <a:spcPts val="475"/>
              </a:spcBef>
              <a:buFont typeface="Arial MT"/>
              <a:buChar char="•"/>
              <a:tabLst>
                <a:tab pos="241300" algn="l"/>
              </a:tabLst>
            </a:pPr>
            <a:r>
              <a:rPr sz="2600" spc="-10" dirty="0">
                <a:latin typeface="Calibri"/>
                <a:cs typeface="Calibri"/>
              </a:rPr>
              <a:t>Integration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of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metadata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and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other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relevant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information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can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help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in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accurate </a:t>
            </a:r>
            <a:r>
              <a:rPr sz="2600" dirty="0">
                <a:latin typeface="Calibri"/>
                <a:cs typeface="Calibri"/>
              </a:rPr>
              <a:t>functional</a:t>
            </a:r>
            <a:r>
              <a:rPr sz="2600" spc="-9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annotation</a:t>
            </a:r>
            <a:r>
              <a:rPr sz="2600" spc="-8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by</a:t>
            </a:r>
            <a:r>
              <a:rPr sz="2600" spc="-9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providing</a:t>
            </a:r>
            <a:r>
              <a:rPr sz="2600" spc="-8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additional</a:t>
            </a:r>
            <a:r>
              <a:rPr sz="2600" spc="-9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context</a:t>
            </a:r>
            <a:r>
              <a:rPr sz="2600" spc="-8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for</a:t>
            </a:r>
            <a:r>
              <a:rPr sz="2600" spc="-8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gene</a:t>
            </a:r>
            <a:r>
              <a:rPr sz="2600" spc="-9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function.</a:t>
            </a:r>
            <a:endParaRPr sz="2600">
              <a:latin typeface="Calibri"/>
              <a:cs typeface="Calibri"/>
            </a:endParaRPr>
          </a:p>
          <a:p>
            <a:pPr marL="241300" marR="476250" indent="-228600">
              <a:lnSpc>
                <a:spcPts val="2780"/>
              </a:lnSpc>
              <a:spcBef>
                <a:spcPts val="1040"/>
              </a:spcBef>
              <a:buFont typeface="Arial MT"/>
              <a:buChar char="•"/>
              <a:tabLst>
                <a:tab pos="241300" algn="l"/>
              </a:tabLst>
            </a:pPr>
            <a:r>
              <a:rPr sz="2600" spc="-10" dirty="0">
                <a:latin typeface="Calibri"/>
                <a:cs typeface="Calibri"/>
              </a:rPr>
              <a:t>Metadata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can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include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information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such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as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sample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source,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growth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conditions,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spc="-25" dirty="0">
                <a:latin typeface="Calibri"/>
                <a:cs typeface="Calibri"/>
              </a:rPr>
              <a:t>and </a:t>
            </a:r>
            <a:r>
              <a:rPr sz="2600" spc="-10" dirty="0">
                <a:latin typeface="Calibri"/>
                <a:cs typeface="Calibri"/>
              </a:rPr>
              <a:t>environmental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factors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that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can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impact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gene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function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and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regulation.</a:t>
            </a:r>
            <a:endParaRPr sz="2600">
              <a:latin typeface="Calibri"/>
              <a:cs typeface="Calibri"/>
            </a:endParaRPr>
          </a:p>
          <a:p>
            <a:pPr marL="241300" marR="562610" indent="-228600">
              <a:lnSpc>
                <a:spcPct val="89600"/>
              </a:lnSpc>
              <a:spcBef>
                <a:spcPts val="1085"/>
              </a:spcBef>
              <a:buFont typeface="Arial MT"/>
              <a:buChar char="•"/>
              <a:tabLst>
                <a:tab pos="241300" algn="l"/>
              </a:tabLst>
            </a:pPr>
            <a:r>
              <a:rPr sz="2600" dirty="0">
                <a:latin typeface="Calibri"/>
                <a:cs typeface="Calibri"/>
              </a:rPr>
              <a:t>Other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relevant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information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such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as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spc="-25" dirty="0">
                <a:latin typeface="Calibri"/>
                <a:cs typeface="Calibri"/>
              </a:rPr>
              <a:t>protein-</a:t>
            </a:r>
            <a:r>
              <a:rPr sz="2600" dirty="0">
                <a:latin typeface="Calibri"/>
                <a:cs typeface="Calibri"/>
              </a:rPr>
              <a:t>protein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interactions,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gene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expression </a:t>
            </a:r>
            <a:r>
              <a:rPr sz="2600" dirty="0">
                <a:latin typeface="Calibri"/>
                <a:cs typeface="Calibri"/>
              </a:rPr>
              <a:t>data,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and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pathway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analysis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results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can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provide</a:t>
            </a:r>
            <a:r>
              <a:rPr sz="2600" spc="-8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further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insight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into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the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biological </a:t>
            </a:r>
            <a:r>
              <a:rPr sz="2600" dirty="0">
                <a:latin typeface="Calibri"/>
                <a:cs typeface="Calibri"/>
              </a:rPr>
              <a:t>significance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of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annotated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genes.</a:t>
            </a:r>
            <a:endParaRPr sz="2600">
              <a:latin typeface="Calibri"/>
              <a:cs typeface="Calibri"/>
            </a:endParaRPr>
          </a:p>
          <a:p>
            <a:pPr marL="241300" marR="5080" indent="-228600">
              <a:lnSpc>
                <a:spcPts val="2810"/>
              </a:lnSpc>
              <a:spcBef>
                <a:spcPts val="1025"/>
              </a:spcBef>
              <a:buFont typeface="Arial MT"/>
              <a:buChar char="•"/>
              <a:tabLst>
                <a:tab pos="241300" algn="l"/>
              </a:tabLst>
            </a:pPr>
            <a:r>
              <a:rPr sz="2600" spc="-10" dirty="0">
                <a:latin typeface="Calibri"/>
                <a:cs typeface="Calibri"/>
              </a:rPr>
              <a:t>Integration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of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metadata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and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relevant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information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can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help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in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identifying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common </a:t>
            </a:r>
            <a:r>
              <a:rPr sz="2600" dirty="0">
                <a:latin typeface="Calibri"/>
                <a:cs typeface="Calibri"/>
              </a:rPr>
              <a:t>genetic</a:t>
            </a:r>
            <a:r>
              <a:rPr sz="2600" spc="-9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features</a:t>
            </a:r>
            <a:r>
              <a:rPr sz="2600" spc="-9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among</a:t>
            </a:r>
            <a:r>
              <a:rPr sz="2600" spc="-8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bacterial</a:t>
            </a:r>
            <a:r>
              <a:rPr sz="2600" spc="-8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strains,</a:t>
            </a:r>
            <a:r>
              <a:rPr sz="2600" spc="-8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and</a:t>
            </a:r>
            <a:r>
              <a:rPr sz="2600" spc="-9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provide</a:t>
            </a:r>
            <a:r>
              <a:rPr sz="2600" spc="-9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insights</a:t>
            </a:r>
            <a:r>
              <a:rPr sz="2600" spc="-8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into</a:t>
            </a:r>
            <a:r>
              <a:rPr sz="2600" spc="-9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evolutionary relationships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among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different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strains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and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their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adaptation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to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different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environments.</a:t>
            </a:r>
            <a:endParaRPr sz="2600">
              <a:latin typeface="Calibri"/>
              <a:cs typeface="Calibri"/>
            </a:endParaRPr>
          </a:p>
          <a:p>
            <a:pPr marL="241300" marR="131445" indent="-228600">
              <a:lnSpc>
                <a:spcPts val="2810"/>
              </a:lnSpc>
              <a:spcBef>
                <a:spcPts val="975"/>
              </a:spcBef>
              <a:buFont typeface="Arial MT"/>
              <a:buChar char="•"/>
              <a:tabLst>
                <a:tab pos="241300" algn="l"/>
              </a:tabLst>
            </a:pPr>
            <a:r>
              <a:rPr sz="2600" spc="-25" dirty="0">
                <a:latin typeface="Calibri"/>
                <a:cs typeface="Calibri"/>
              </a:rPr>
              <a:t>Effective</a:t>
            </a:r>
            <a:r>
              <a:rPr sz="2600" spc="-8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integration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of</a:t>
            </a:r>
            <a:r>
              <a:rPr sz="2600" spc="-8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metadata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and</a:t>
            </a:r>
            <a:r>
              <a:rPr sz="2600" spc="-8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relevant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information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requires</a:t>
            </a:r>
            <a:r>
              <a:rPr sz="2600" spc="-8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proper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data </a:t>
            </a:r>
            <a:r>
              <a:rPr sz="2600" dirty="0">
                <a:latin typeface="Calibri"/>
                <a:cs typeface="Calibri"/>
              </a:rPr>
              <a:t>management,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standardization,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and</a:t>
            </a:r>
            <a:r>
              <a:rPr sz="2600" spc="-8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access</a:t>
            </a:r>
            <a:r>
              <a:rPr sz="2600" spc="-8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to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relevant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databases</a:t>
            </a:r>
            <a:r>
              <a:rPr sz="2600" spc="-8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and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software</a:t>
            </a:r>
            <a:r>
              <a:rPr sz="2600" spc="-8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tools.</a:t>
            </a:r>
            <a:endParaRPr sz="2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91337" rIns="0" bIns="0" rtlCol="0">
            <a:spAutoFit/>
          </a:bodyPr>
          <a:lstStyle/>
          <a:p>
            <a:pPr marL="270510">
              <a:lnSpc>
                <a:spcPct val="100000"/>
              </a:lnSpc>
              <a:spcBef>
                <a:spcPts val="110"/>
              </a:spcBef>
            </a:pPr>
            <a:r>
              <a:rPr dirty="0"/>
              <a:t>Challenges</a:t>
            </a:r>
            <a:r>
              <a:rPr spc="260" dirty="0"/>
              <a:t> </a:t>
            </a:r>
            <a:r>
              <a:rPr dirty="0"/>
              <a:t>and</a:t>
            </a:r>
            <a:r>
              <a:rPr spc="270" dirty="0"/>
              <a:t> </a:t>
            </a:r>
            <a:r>
              <a:rPr spc="-10" dirty="0"/>
              <a:t>limitations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94871" y="1391412"/>
            <a:ext cx="11141075" cy="4725670"/>
          </a:xfrm>
          <a:prstGeom prst="rect">
            <a:avLst/>
          </a:prstGeom>
        </p:spPr>
        <p:txBody>
          <a:bodyPr vert="horz" wrap="square" lIns="0" tIns="91440" rIns="0" bIns="0" rtlCol="0">
            <a:spAutoFit/>
          </a:bodyPr>
          <a:lstStyle/>
          <a:p>
            <a:pPr marL="241300" marR="333375" indent="-228600">
              <a:lnSpc>
                <a:spcPct val="80000"/>
              </a:lnSpc>
              <a:spcBef>
                <a:spcPts val="720"/>
              </a:spcBef>
              <a:buFont typeface="Arial MT"/>
              <a:buChar char="•"/>
              <a:tabLst>
                <a:tab pos="241300" algn="l"/>
              </a:tabLst>
            </a:pPr>
            <a:r>
              <a:rPr sz="2600" dirty="0">
                <a:latin typeface="Calibri"/>
                <a:cs typeface="Calibri"/>
              </a:rPr>
              <a:t>The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accuracy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and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completeness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of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bacterial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assemblies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can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be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affected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by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spc="-25" dirty="0">
                <a:latin typeface="Calibri"/>
                <a:cs typeface="Calibri"/>
              </a:rPr>
              <a:t>low </a:t>
            </a:r>
            <a:r>
              <a:rPr sz="2600" dirty="0">
                <a:latin typeface="Calibri"/>
                <a:cs typeface="Calibri"/>
              </a:rPr>
              <a:t>quality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and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coverage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sequencing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data,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sequencing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errors,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and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assembly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biases.</a:t>
            </a:r>
            <a:endParaRPr sz="2600">
              <a:latin typeface="Calibri"/>
              <a:cs typeface="Calibri"/>
            </a:endParaRPr>
          </a:p>
          <a:p>
            <a:pPr marL="241300" marR="5080" indent="-228600">
              <a:lnSpc>
                <a:spcPts val="2500"/>
              </a:lnSpc>
              <a:spcBef>
                <a:spcPts val="985"/>
              </a:spcBef>
              <a:buFont typeface="Arial MT"/>
              <a:buChar char="•"/>
              <a:tabLst>
                <a:tab pos="241300" algn="l"/>
              </a:tabLst>
            </a:pPr>
            <a:r>
              <a:rPr sz="2600" dirty="0">
                <a:latin typeface="Calibri"/>
                <a:cs typeface="Calibri"/>
              </a:rPr>
              <a:t>The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choice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between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de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novo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and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spc="-30" dirty="0">
                <a:latin typeface="Calibri"/>
                <a:cs typeface="Calibri"/>
              </a:rPr>
              <a:t>reference-</a:t>
            </a:r>
            <a:r>
              <a:rPr sz="2600" dirty="0">
                <a:latin typeface="Calibri"/>
                <a:cs typeface="Calibri"/>
              </a:rPr>
              <a:t>based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assembly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methods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can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spc="-25" dirty="0">
                <a:latin typeface="Calibri"/>
                <a:cs typeface="Calibri"/>
              </a:rPr>
              <a:t>be </a:t>
            </a:r>
            <a:r>
              <a:rPr sz="2600" dirty="0">
                <a:latin typeface="Calibri"/>
                <a:cs typeface="Calibri"/>
              </a:rPr>
              <a:t>influenced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by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the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availability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of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high-</a:t>
            </a:r>
            <a:r>
              <a:rPr sz="2600" dirty="0">
                <a:latin typeface="Calibri"/>
                <a:cs typeface="Calibri"/>
              </a:rPr>
              <a:t>quality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reference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genomes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and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the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potential </a:t>
            </a:r>
            <a:r>
              <a:rPr sz="2600" dirty="0">
                <a:latin typeface="Calibri"/>
                <a:cs typeface="Calibri"/>
              </a:rPr>
              <a:t>for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misassembly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in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de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novo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methods.</a:t>
            </a:r>
            <a:endParaRPr sz="2600">
              <a:latin typeface="Calibri"/>
              <a:cs typeface="Calibri"/>
            </a:endParaRPr>
          </a:p>
          <a:p>
            <a:pPr marL="241300" marR="127635" indent="-228600">
              <a:lnSpc>
                <a:spcPct val="78500"/>
              </a:lnSpc>
              <a:spcBef>
                <a:spcPts val="1070"/>
              </a:spcBef>
              <a:buFont typeface="Arial MT"/>
              <a:buChar char="•"/>
              <a:tabLst>
                <a:tab pos="241300" algn="l"/>
              </a:tabLst>
            </a:pPr>
            <a:r>
              <a:rPr sz="2600" dirty="0">
                <a:latin typeface="Calibri"/>
                <a:cs typeface="Calibri"/>
              </a:rPr>
              <a:t>Annotation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quality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can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be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impacted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by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the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choice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of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annotation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tools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spc="-25" dirty="0">
                <a:latin typeface="Calibri"/>
                <a:cs typeface="Calibri"/>
              </a:rPr>
              <a:t>and </a:t>
            </a:r>
            <a:r>
              <a:rPr sz="2600" dirty="0">
                <a:latin typeface="Calibri"/>
                <a:cs typeface="Calibri"/>
              </a:rPr>
              <a:t>databases,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incomplete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and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inaccurate</a:t>
            </a:r>
            <a:r>
              <a:rPr sz="2600" spc="-8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functional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annotations,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and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errors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in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gene </a:t>
            </a:r>
            <a:r>
              <a:rPr sz="2600" dirty="0">
                <a:latin typeface="Calibri"/>
                <a:cs typeface="Calibri"/>
              </a:rPr>
              <a:t>prediction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and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functional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annotation.</a:t>
            </a:r>
            <a:endParaRPr sz="2600">
              <a:latin typeface="Calibri"/>
              <a:cs typeface="Calibri"/>
            </a:endParaRPr>
          </a:p>
          <a:p>
            <a:pPr marL="241300" marR="31750" indent="-228600">
              <a:lnSpc>
                <a:spcPct val="80000"/>
              </a:lnSpc>
              <a:spcBef>
                <a:spcPts val="1005"/>
              </a:spcBef>
              <a:buFont typeface="Arial MT"/>
              <a:buChar char="•"/>
              <a:tabLst>
                <a:tab pos="241300" algn="l"/>
              </a:tabLst>
            </a:pPr>
            <a:r>
              <a:rPr sz="2600" dirty="0">
                <a:latin typeface="Calibri"/>
                <a:cs typeface="Calibri"/>
              </a:rPr>
              <a:t>Automated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annotation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can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be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prone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to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errors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and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should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be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complemented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with </a:t>
            </a:r>
            <a:r>
              <a:rPr sz="2600" dirty="0">
                <a:latin typeface="Calibri"/>
                <a:cs typeface="Calibri"/>
              </a:rPr>
              <a:t>manual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curation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and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validation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of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results.</a:t>
            </a:r>
            <a:endParaRPr sz="2600">
              <a:latin typeface="Calibri"/>
              <a:cs typeface="Calibri"/>
            </a:endParaRPr>
          </a:p>
          <a:p>
            <a:pPr marL="241300" marR="339725" indent="-228600" algn="just">
              <a:lnSpc>
                <a:spcPts val="2500"/>
              </a:lnSpc>
              <a:spcBef>
                <a:spcPts val="985"/>
              </a:spcBef>
              <a:buFont typeface="Arial MT"/>
              <a:buChar char="•"/>
              <a:tabLst>
                <a:tab pos="241300" algn="l"/>
              </a:tabLst>
            </a:pPr>
            <a:r>
              <a:rPr sz="2600" dirty="0">
                <a:latin typeface="Calibri"/>
                <a:cs typeface="Calibri"/>
              </a:rPr>
              <a:t>Bacterial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genomes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can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be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highly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diverse,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with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complex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and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dynamic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evolution, </a:t>
            </a:r>
            <a:r>
              <a:rPr sz="2600" dirty="0">
                <a:latin typeface="Calibri"/>
                <a:cs typeface="Calibri"/>
              </a:rPr>
              <a:t>which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can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pose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challenges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for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accurate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assembly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and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annotation,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as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well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as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spc="-25" dirty="0">
                <a:latin typeface="Calibri"/>
                <a:cs typeface="Calibri"/>
              </a:rPr>
              <a:t>for </a:t>
            </a:r>
            <a:r>
              <a:rPr sz="2600" spc="-10" dirty="0">
                <a:latin typeface="Calibri"/>
                <a:cs typeface="Calibri"/>
              </a:rPr>
              <a:t>comparative</a:t>
            </a:r>
            <a:r>
              <a:rPr sz="2600" spc="-8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and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functional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analysis.</a:t>
            </a:r>
            <a:endParaRPr sz="2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35178" rIns="0" bIns="0" rtlCol="0">
            <a:spAutoFit/>
          </a:bodyPr>
          <a:lstStyle/>
          <a:p>
            <a:pPr marL="163830">
              <a:lnSpc>
                <a:spcPct val="100000"/>
              </a:lnSpc>
              <a:spcBef>
                <a:spcPts val="110"/>
              </a:spcBef>
            </a:pPr>
            <a:r>
              <a:rPr dirty="0"/>
              <a:t>Future</a:t>
            </a:r>
            <a:r>
              <a:rPr spc="215" dirty="0"/>
              <a:t> </a:t>
            </a:r>
            <a:r>
              <a:rPr dirty="0"/>
              <a:t>directions</a:t>
            </a:r>
            <a:r>
              <a:rPr spc="215" dirty="0"/>
              <a:t> </a:t>
            </a:r>
            <a:r>
              <a:rPr dirty="0"/>
              <a:t>and</a:t>
            </a:r>
            <a:r>
              <a:rPr spc="220" dirty="0"/>
              <a:t> </a:t>
            </a:r>
            <a:r>
              <a:rPr spc="-10" dirty="0"/>
              <a:t>advances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44252" y="1756155"/>
            <a:ext cx="11117580" cy="4719320"/>
          </a:xfrm>
          <a:prstGeom prst="rect">
            <a:avLst/>
          </a:prstGeom>
        </p:spPr>
        <p:txBody>
          <a:bodyPr vert="horz" wrap="square" lIns="0" tIns="92710" rIns="0" bIns="0" rtlCol="0">
            <a:spAutoFit/>
          </a:bodyPr>
          <a:lstStyle/>
          <a:p>
            <a:pPr marL="241300" marR="572770" indent="-228600">
              <a:lnSpc>
                <a:spcPts val="2710"/>
              </a:lnSpc>
              <a:spcBef>
                <a:spcPts val="730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spc="-10" dirty="0">
                <a:latin typeface="Calibri"/>
                <a:cs typeface="Calibri"/>
              </a:rPr>
              <a:t>Improvements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long-</a:t>
            </a:r>
            <a:r>
              <a:rPr sz="2800" dirty="0">
                <a:latin typeface="Calibri"/>
                <a:cs typeface="Calibri"/>
              </a:rPr>
              <a:t>read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sequencing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technologies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their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ability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to </a:t>
            </a:r>
            <a:r>
              <a:rPr sz="2800" dirty="0">
                <a:latin typeface="Calibri"/>
                <a:cs typeface="Calibri"/>
              </a:rPr>
              <a:t>produce</a:t>
            </a:r>
            <a:r>
              <a:rPr sz="2800" spc="-10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more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accurate</a:t>
            </a:r>
            <a:r>
              <a:rPr sz="2800" spc="-10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contiguous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assemblies.</a:t>
            </a:r>
            <a:endParaRPr sz="2800">
              <a:latin typeface="Calibri"/>
              <a:cs typeface="Calibri"/>
            </a:endParaRPr>
          </a:p>
          <a:p>
            <a:pPr marL="241300" marR="726440" indent="-228600">
              <a:lnSpc>
                <a:spcPts val="2690"/>
              </a:lnSpc>
              <a:spcBef>
                <a:spcPts val="1005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spc="-10" dirty="0">
                <a:latin typeface="Calibri"/>
                <a:cs typeface="Calibri"/>
              </a:rPr>
              <a:t>Integration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various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omics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data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(e.g.,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transcriptomics,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proteomics)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to </a:t>
            </a:r>
            <a:r>
              <a:rPr sz="2800" dirty="0">
                <a:latin typeface="Calibri"/>
                <a:cs typeface="Calibri"/>
              </a:rPr>
              <a:t>improve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annotation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accuracy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completeness.</a:t>
            </a:r>
            <a:endParaRPr sz="2800">
              <a:latin typeface="Calibri"/>
              <a:cs typeface="Calibri"/>
            </a:endParaRPr>
          </a:p>
          <a:p>
            <a:pPr marL="241300" marR="37465" indent="-228600">
              <a:lnSpc>
                <a:spcPts val="2690"/>
              </a:lnSpc>
              <a:spcBef>
                <a:spcPts val="1030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Development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machine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learning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artificial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intelligence-</a:t>
            </a:r>
            <a:r>
              <a:rPr sz="2800" dirty="0">
                <a:latin typeface="Calibri"/>
                <a:cs typeface="Calibri"/>
              </a:rPr>
              <a:t>based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methods </a:t>
            </a:r>
            <a:r>
              <a:rPr sz="2800" dirty="0">
                <a:latin typeface="Calibri"/>
                <a:cs typeface="Calibri"/>
              </a:rPr>
              <a:t>for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automated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more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accurate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annotation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bacterial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genomes.</a:t>
            </a:r>
            <a:endParaRPr sz="2800">
              <a:latin typeface="Calibri"/>
              <a:cs typeface="Calibri"/>
            </a:endParaRPr>
          </a:p>
          <a:p>
            <a:pPr marL="241300" marR="5080" indent="-228600">
              <a:lnSpc>
                <a:spcPct val="80400"/>
              </a:lnSpc>
              <a:spcBef>
                <a:spcPts val="915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Continued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improvements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bioinformatics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software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tools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for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assembly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annotation,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as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well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as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their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integration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into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more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35" dirty="0">
                <a:latin typeface="Calibri"/>
                <a:cs typeface="Calibri"/>
              </a:rPr>
              <a:t>user-</a:t>
            </a:r>
            <a:r>
              <a:rPr sz="2800" spc="-10" dirty="0">
                <a:latin typeface="Calibri"/>
                <a:cs typeface="Calibri"/>
              </a:rPr>
              <a:t>friendly pipelines.</a:t>
            </a:r>
            <a:endParaRPr sz="2800">
              <a:latin typeface="Calibri"/>
              <a:cs typeface="Calibri"/>
            </a:endParaRPr>
          </a:p>
          <a:p>
            <a:pPr marL="241300" marR="115570" indent="-228600">
              <a:lnSpc>
                <a:spcPct val="80400"/>
              </a:lnSpc>
              <a:spcBef>
                <a:spcPts val="994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Increased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focus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on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population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genomics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strain-</a:t>
            </a:r>
            <a:r>
              <a:rPr sz="2800" dirty="0">
                <a:latin typeface="Calibri"/>
                <a:cs typeface="Calibri"/>
              </a:rPr>
              <a:t>level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diversity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better understand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evolution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spread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bacterial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pathogens,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to </a:t>
            </a:r>
            <a:r>
              <a:rPr sz="2800" dirty="0">
                <a:latin typeface="Calibri"/>
                <a:cs typeface="Calibri"/>
              </a:rPr>
              <a:t>develop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more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effective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treatments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control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strategies.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16305" rIns="0" bIns="0" rtlCol="0">
            <a:spAutoFit/>
          </a:bodyPr>
          <a:lstStyle/>
          <a:p>
            <a:pPr marL="106045">
              <a:lnSpc>
                <a:spcPct val="100000"/>
              </a:lnSpc>
              <a:spcBef>
                <a:spcPts val="110"/>
              </a:spcBef>
            </a:pPr>
            <a:r>
              <a:rPr spc="35" dirty="0"/>
              <a:t>Summary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11248" y="1469643"/>
            <a:ext cx="11535410" cy="4719320"/>
          </a:xfrm>
          <a:prstGeom prst="rect">
            <a:avLst/>
          </a:prstGeom>
        </p:spPr>
        <p:txBody>
          <a:bodyPr vert="horz" wrap="square" lIns="0" tIns="94615" rIns="0" bIns="0" rtlCol="0">
            <a:spAutoFit/>
          </a:bodyPr>
          <a:lstStyle/>
          <a:p>
            <a:pPr marL="241300" marR="194945" indent="-228600" algn="just">
              <a:lnSpc>
                <a:spcPts val="2690"/>
              </a:lnSpc>
              <a:spcBef>
                <a:spcPts val="745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Quality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sequencing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data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is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critical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achieving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accurate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bacterial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assembly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annotation.</a:t>
            </a:r>
            <a:endParaRPr sz="2800">
              <a:latin typeface="Calibri"/>
              <a:cs typeface="Calibri"/>
            </a:endParaRPr>
          </a:p>
          <a:p>
            <a:pPr marL="241300" marR="10795" indent="-228600" algn="just">
              <a:lnSpc>
                <a:spcPts val="2690"/>
              </a:lnSpc>
              <a:spcBef>
                <a:spcPts val="1030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Choosing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appropriate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assembly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methods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tools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is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important,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it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can </a:t>
            </a:r>
            <a:r>
              <a:rPr sz="2800" dirty="0">
                <a:latin typeface="Calibri"/>
                <a:cs typeface="Calibri"/>
              </a:rPr>
              <a:t>depend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on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type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data,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research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question,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desired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outcomes.</a:t>
            </a:r>
            <a:endParaRPr sz="2800">
              <a:latin typeface="Calibri"/>
              <a:cs typeface="Calibri"/>
            </a:endParaRPr>
          </a:p>
          <a:p>
            <a:pPr marL="241300" marR="642620" indent="-228600" algn="just">
              <a:lnSpc>
                <a:spcPct val="78900"/>
              </a:lnSpc>
              <a:spcBef>
                <a:spcPts val="1065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spc="-10" dirty="0">
                <a:latin typeface="Calibri"/>
                <a:cs typeface="Calibri"/>
              </a:rPr>
              <a:t>Evaluation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assembly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quality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is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critical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step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process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includes </a:t>
            </a:r>
            <a:r>
              <a:rPr sz="2800" dirty="0">
                <a:latin typeface="Calibri"/>
                <a:cs typeface="Calibri"/>
              </a:rPr>
              <a:t>methods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for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checking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completeness,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accuracy,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correctness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the </a:t>
            </a:r>
            <a:r>
              <a:rPr sz="2800" spc="-10" dirty="0">
                <a:latin typeface="Calibri"/>
                <a:cs typeface="Calibri"/>
              </a:rPr>
              <a:t>assembly.</a:t>
            </a:r>
            <a:endParaRPr sz="2800">
              <a:latin typeface="Calibri"/>
              <a:cs typeface="Calibri"/>
            </a:endParaRPr>
          </a:p>
          <a:p>
            <a:pPr marL="241300" marR="5080" indent="-228600">
              <a:lnSpc>
                <a:spcPct val="80400"/>
              </a:lnSpc>
              <a:spcBef>
                <a:spcPts val="994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spc="-10" dirty="0">
                <a:latin typeface="Calibri"/>
                <a:cs typeface="Calibri"/>
              </a:rPr>
              <a:t>Automated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annotation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tools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can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save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time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improve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efficiency,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but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manual </a:t>
            </a:r>
            <a:r>
              <a:rPr sz="2800" dirty="0">
                <a:latin typeface="Calibri"/>
                <a:cs typeface="Calibri"/>
              </a:rPr>
              <a:t>curation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is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still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necessary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for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accurate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comprehensive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functional annotation.</a:t>
            </a:r>
            <a:endParaRPr sz="2800">
              <a:latin typeface="Calibri"/>
              <a:cs typeface="Calibri"/>
            </a:endParaRPr>
          </a:p>
          <a:p>
            <a:pPr marL="241300" marR="582930" indent="-228600">
              <a:lnSpc>
                <a:spcPts val="2710"/>
              </a:lnSpc>
              <a:spcBef>
                <a:spcPts val="965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spc="-10" dirty="0">
                <a:latin typeface="Calibri"/>
                <a:cs typeface="Calibri"/>
              </a:rPr>
              <a:t>Integration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metadata,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relevant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information,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expertise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can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aid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the </a:t>
            </a:r>
            <a:r>
              <a:rPr sz="2800" spc="-10" dirty="0">
                <a:latin typeface="Calibri"/>
                <a:cs typeface="Calibri"/>
              </a:rPr>
              <a:t>interpretation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results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help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making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informed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decisions.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05200" y="549798"/>
            <a:ext cx="4081106" cy="320922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97A5142-8FDC-B9E9-85AC-A1259F6B7A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31740" y="3912056"/>
            <a:ext cx="7520155" cy="289147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1C74165-3521-CCDA-6D32-7DF6844C5243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48" t="62172" r="45526" b="27602"/>
          <a:stretch/>
        </p:blipFill>
        <p:spPr>
          <a:xfrm>
            <a:off x="40105" y="6321286"/>
            <a:ext cx="4135971" cy="495387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F495656A-6F4B-3F96-81B2-E297F744DA7E}"/>
              </a:ext>
            </a:extLst>
          </p:cNvPr>
          <p:cNvSpPr txBox="1"/>
          <p:nvPr/>
        </p:nvSpPr>
        <p:spPr>
          <a:xfrm>
            <a:off x="0" y="4703587"/>
            <a:ext cx="4268855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 b="1" kern="0" dirty="0" err="1">
                <a:solidFill>
                  <a:srgbClr val="00206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Gildas</a:t>
            </a:r>
            <a:r>
              <a:rPr lang="en-US" sz="1200" b="1" kern="0" dirty="0">
                <a:solidFill>
                  <a:srgbClr val="00206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US" sz="1200" b="1" kern="0" dirty="0" err="1">
                <a:solidFill>
                  <a:srgbClr val="00206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Hounmanou</a:t>
            </a:r>
            <a:r>
              <a:rPr lang="en-US" sz="1200" b="1" kern="0" dirty="0">
                <a:solidFill>
                  <a:srgbClr val="00206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PhD </a:t>
            </a:r>
            <a:endParaRPr lang="en-DK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algn="ctr"/>
            <a:r>
              <a:rPr lang="en-US" sz="1200" kern="0" dirty="0">
                <a:solidFill>
                  <a:srgbClr val="2D4E8A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APTI-Fellow, National Institutes of Health, MD, USA</a:t>
            </a:r>
            <a:endParaRPr lang="en-DK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algn="ctr"/>
            <a:r>
              <a:rPr lang="en-DK" sz="1200" b="1" kern="0" dirty="0">
                <a:solidFill>
                  <a:srgbClr val="00206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Assistant-Professor</a:t>
            </a:r>
            <a:endParaRPr lang="en-DK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algn="ctr"/>
            <a:r>
              <a:rPr lang="en-GB" sz="1200" kern="0" dirty="0">
                <a:solidFill>
                  <a:srgbClr val="044A91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Calibri" panose="020F0502020204030204" pitchFamily="34" charset="0"/>
                <a:hlinkClick r:id="rId5" tooltip="https://orcid.org/0000-0003-3991-0864"/>
              </a:rPr>
              <a:t>https://orcid.org/0000-0003-3991-0864</a:t>
            </a:r>
            <a:endParaRPr lang="en-DK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algn="ctr"/>
            <a:r>
              <a:rPr lang="en-US" sz="1200" b="1" kern="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University of Copenhagen</a:t>
            </a:r>
            <a:endParaRPr lang="en-DK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algn="ctr"/>
            <a:r>
              <a:rPr lang="en-US" sz="1200" kern="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Faculty of Health and Medical Sciences</a:t>
            </a:r>
            <a:endParaRPr lang="en-DK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algn="ctr"/>
            <a:r>
              <a:rPr lang="en-US" sz="1200" kern="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Section for Food Safety and Zoonoses</a:t>
            </a:r>
            <a:endParaRPr lang="en-DK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algn="ctr"/>
            <a:r>
              <a:rPr lang="en-US" sz="1200" kern="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Department of Veterinary and Animal Sciences</a:t>
            </a:r>
            <a:endParaRPr lang="en-DK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</TotalTime>
  <Words>2894</Words>
  <Application>Microsoft Macintosh PowerPoint</Application>
  <PresentationFormat>Widescreen</PresentationFormat>
  <Paragraphs>166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8" baseType="lpstr">
      <vt:lpstr>Aptos</vt:lpstr>
      <vt:lpstr>Arial MT</vt:lpstr>
      <vt:lpstr>Calibri</vt:lpstr>
      <vt:lpstr>Calibri Light</vt:lpstr>
      <vt:lpstr>Verdana</vt:lpstr>
      <vt:lpstr>Office Theme</vt:lpstr>
      <vt:lpstr>PowerPoint Presentation</vt:lpstr>
      <vt:lpstr>Introduction to bacterial assembly and annotation</vt:lpstr>
      <vt:lpstr>Understanding de-novo and reference-based assembly methods</vt:lpstr>
      <vt:lpstr>Overview of some assembly tools</vt:lpstr>
      <vt:lpstr>Quality checks for bacterial assemblies -1</vt:lpstr>
      <vt:lpstr>Quality checks for bacterial assemblies -2</vt:lpstr>
      <vt:lpstr>Contig ordering and scaffolding</vt:lpstr>
      <vt:lpstr>Genome size estimation</vt:lpstr>
      <vt:lpstr>Gap filling in bacterial assembly</vt:lpstr>
      <vt:lpstr>Overview of some annotation tools</vt:lpstr>
      <vt:lpstr>Benefits and limitations of automated annotation</vt:lpstr>
      <vt:lpstr>Quality checks for bacterial annotations</vt:lpstr>
      <vt:lpstr>Understanding functional annotation</vt:lpstr>
      <vt:lpstr>Annotating novel genes and functional domains</vt:lpstr>
      <vt:lpstr>Comparative genomics</vt:lpstr>
      <vt:lpstr>Visualizing and interpreting annotation results</vt:lpstr>
      <vt:lpstr>Evaluating annotation quality</vt:lpstr>
      <vt:lpstr>Integration of metadata and relevant information</vt:lpstr>
      <vt:lpstr>Challenges and limitations</vt:lpstr>
      <vt:lpstr>Future directions and advances</vt:lpstr>
      <vt:lpstr>Summary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Yaovi Mahuton Gildas Hounmanou</cp:lastModifiedBy>
  <cp:revision>1</cp:revision>
  <dcterms:created xsi:type="dcterms:W3CDTF">2025-07-26T16:08:30Z</dcterms:created>
  <dcterms:modified xsi:type="dcterms:W3CDTF">2025-08-04T22:58:13Z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2025-07-26T00:00:00Z</vt:filetime>
  </property>
  <property fmtid="{D5CDD505-2E9C-101B-9397-08002B2CF9AE}" pid="3" name="LastSaved">
    <vt:filetime>2025-07-26T00:00:00Z</vt:filetime>
  </property>
  <property fmtid="{D5CDD505-2E9C-101B-9397-08002B2CF9AE}" pid="4" name="Producer">
    <vt:lpwstr>3-Heights™ PDF Merge Split Shell 6.12.1.11 (http://www.pdf-tools.com)</vt:lpwstr>
  </property>
</Properties>
</file>